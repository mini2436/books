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Private Reader 是一套面向团队与机构的私有阅读平台，我们希望它解决的不只是“看书”这一个动作，而是把私有书库、阅读体验、内容治理和后续平台扩展放在同一条产品线上。</a:t>
            </a:r>
          </a:p>
          <a:p>
            <a:r>
              <a:rPr lang="zh-CN" dirty="0"/>
              <a:t>这一版展示会从项目定位、产品能力、后台链路、技术架构和阶段成果五个层面，说明它为什么值得继续投入。</a:t>
            </a:r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要点：① 私有阅读平台定位 ② 自托管、多用户、离线优先 ③ 具备继续演进价值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先看这个项目的定位，它并不是一个单点阅读工具，而是一套完整的平台型能力。</a:t>
            </a:r>
          </a:p>
          <a:p>
            <a:r>
              <a:rPr lang="zh-CN" dirty="0"/>
              <a:t>它同时覆盖读者端体验、后台治理和资源入库链路，因此更适合被理解成一个可自托管的阅读基础设施。</a:t>
            </a:r>
          </a:p>
          <a:p>
            <a:r>
              <a:rPr lang="zh-CN" dirty="0"/>
              <a:t>对于团队和机构来说，这意味着它可以承接私有书库、知识分发和阅读工作台等长期场景。</a:t>
            </a:r>
          </a:p>
          <a:p>
            <a:endParaRPr lang="zh-CN" dirty="0"/>
          </a:p>
          <a:p>
            <a:r>
              <a:rPr lang="zh-CN" dirty="0"/>
              <a:t>要点：① 平台而非单功能 App ② 兼顾体验与治理 ③ 具备多端延展空间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在能力层面，第一阶段已经打通了四条最关键的业务链路。</a:t>
            </a:r>
          </a:p>
          <a:p>
            <a:r>
              <a:rPr lang="zh-CN" dirty="0"/>
              <a:t>从登录与会话恢复，到书架进入阅读器，再到批注、书签和进度同步，以及后台管理和资源扫描，核心骨架已经搭起来了。</a:t>
            </a:r>
          </a:p>
          <a:p>
            <a:r>
              <a:rPr lang="zh-CN" dirty="0"/>
              <a:t>这意味着项目现在不再停留在概念设计，而是已经具备可演示、可提交、可继续迭代的基础。</a:t>
            </a:r>
          </a:p>
          <a:p>
            <a:endParaRPr lang="zh-CN" dirty="0"/>
          </a:p>
          <a:p>
            <a:r>
              <a:rPr lang="zh-CN" dirty="0"/>
              <a:t>要点：① 四条关键业务链路已打通 ② 三类角色与五个后台分区已可用 ③ 三类格式插件已纳入统一处理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接下来我们从真实界面看一下产品体验。</a:t>
            </a:r>
          </a:p>
          <a:p>
            <a:r>
              <a:rPr lang="zh-CN" dirty="0"/>
              <a:t>当前 Flutter App 已经具备登录、书架、阅读器、设置和后台入口的连续路径，不是零散页面集合，而是可感知的完整体验。</a:t>
            </a:r>
          </a:p>
          <a:p>
            <a:r>
              <a:rPr lang="zh-CN" dirty="0"/>
              <a:t>同时，手机与平板共用一套代码基线，阅读器也已经做了浮层化和主题化处理，具备进一步打磨的价值。</a:t>
            </a:r>
          </a:p>
          <a:p>
            <a:endParaRPr lang="zh-CN" dirty="0"/>
          </a:p>
          <a:p>
            <a:r>
              <a:rPr lang="zh-CN" dirty="0"/>
              <a:t>要点：① 已形成完整用户路径 ② 统一 Flutter 基线覆盖手机和平板 ③ 阅读器交互与主题能力已具雏形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如果说读者端代表使用价值，那么后台与导入链路代表平台价值。</a:t>
            </a:r>
          </a:p>
          <a:p>
            <a:r>
              <a:rPr lang="zh-CN" dirty="0"/>
              <a:t>Private Reader 已经把用户、角色、书籍、批注和资源扫描纳入统一后台，并且支持 WebDAV 扫描源接入。</a:t>
            </a:r>
          </a:p>
          <a:p>
            <a:r>
              <a:rPr lang="zh-CN" dirty="0"/>
              <a:t>这条链路最大的意义在于，它让内容不是靠人工逐本导入，而是可以通过扫描、解析和入库形成可重复流程。</a:t>
            </a:r>
          </a:p>
          <a:p>
            <a:endParaRPr lang="zh-CN" dirty="0"/>
          </a:p>
          <a:p>
            <a:r>
              <a:rPr lang="zh-CN" dirty="0"/>
              <a:t>要点：① 后台管理能力完整 ② WebDAV 扫描链路已打通 ③ 平台具备内容治理与接入效率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再往下看，项目在技术架构上也不是临时拼装，而是有比较明确的边界设计。</a:t>
            </a:r>
          </a:p>
          <a:p>
            <a:r>
              <a:rPr lang="zh-CN" dirty="0"/>
              <a:t>后端采用 Kotlin 加 Spring Boot，多模块拆分插件体系，前端则用 Flutter 作为统一基座，并为 Web 和 Desktop 的收敛预留路径。</a:t>
            </a:r>
          </a:p>
          <a:p>
            <a:r>
              <a:rPr lang="zh-CN" dirty="0"/>
              <a:t>同时，AOT 友好和 Native-ready 的约束也说明，这个系统从一开始就考虑了交付效率和未来扩展。</a:t>
            </a:r>
          </a:p>
          <a:p>
            <a:endParaRPr lang="zh-CN" dirty="0"/>
          </a:p>
          <a:p>
            <a:r>
              <a:rPr lang="zh-CN" dirty="0"/>
              <a:t>要点：① 后端、插件、前端分层清晰 ② 兼顾当前落地与未来跨端 ③ Native-ready 设计提升长期可交付性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从阶段成果来看，这个项目已经到了可以被认真评估下一步投入的节点。</a:t>
            </a:r>
          </a:p>
          <a:p>
            <a:r>
              <a:rPr lang="zh-CN" dirty="0"/>
              <a:t>我们可以看到，三类插件、三类角色和五个后台核心分区都已经形成真实能力，主线也已经从双前端并行收敛到 backend 加 mobile。</a:t>
            </a:r>
          </a:p>
          <a:p>
            <a:r>
              <a:rPr lang="zh-CN" dirty="0"/>
              <a:t>换句话说，第一阶段解决的是“能不能做成”的问题，而现在开始进入“怎样把它做大”的问题。</a:t>
            </a:r>
          </a:p>
          <a:p>
            <a:endParaRPr lang="zh-CN" dirty="0"/>
          </a:p>
          <a:p>
            <a:r>
              <a:rPr lang="zh-CN" dirty="0"/>
              <a:t>要点：① 阶段一已达到可提交状态 ② 主线方向已经明确收敛 ③ 具备进入下一阶段的判断基础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最后一页想强调的是，Private Reader 的价值不止于已经完成了什么，更在于它接下来可以演进成什么。</a:t>
            </a:r>
          </a:p>
          <a:p>
            <a:r>
              <a:rPr lang="zh-CN" dirty="0"/>
              <a:t>下一阶段会优先让后台能力落到 Flutter Web 和 Desktop，再逐步迁移书架、账户和阅读器能力，最终形成统一的多端阅读与管理平台。</a:t>
            </a:r>
          </a:p>
          <a:p>
            <a:r>
              <a:rPr lang="zh-CN" dirty="0"/>
              <a:t>如果把时间线拉长来看，它沉淀的并不是一个单点产品，而是一套适合团队和机构长期使用的数字阅读基础设施。</a:t>
            </a:r>
          </a:p>
          <a:p>
            <a:endParaRPr lang="zh-CN" dirty="0"/>
          </a:p>
          <a:p>
            <a:r>
              <a:rPr lang="zh-CN" dirty="0"/>
              <a:t>要点：① 后台先行推进多端化 ② 阅读能力将继续跨端收敛 ③ 项目具备长期平台化价值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_img1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4_img1.png"/>
  <Relationship Id="rId3" Type="http://schemas.openxmlformats.org/officeDocument/2006/relationships/image" Target="../media/s4_img2.png"/>
  <Relationship Id="rId4" Type="http://schemas.openxmlformats.org/officeDocument/2006/relationships/image" Target="../media/s4_img3.png"/>
  <Relationship Id="rId5" Type="http://schemas.openxmlformats.org/officeDocument/2006/relationships/image" Target="../media/s4_img4.png"/>
  <Relationship Id="rId6" Type="http://schemas.openxmlformats.org/officeDocument/2006/relationships/image" Target="../media/s4_img5.png"/>
  <Relationship Id="rId7" Type="http://schemas.openxmlformats.org/officeDocument/2006/relationships/image" Target="../media/s4_img6.png"/>
  <Relationship Id="rId8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4_img1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_img1.png"/>
  <Relationship Id="rId3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747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18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715250" y="-857250"/>
            <a:ext cx="4191000" cy="419100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572500" y="4095750"/>
            <a:ext cx="3429000" cy="3429000"/>
          </a:xfrm>
          <a:prstGeom prst="ellipse">
            <a:avLst/>
          </a:prstGeom>
          <a:solidFill>
            <a:srgbClr val="2FA39A">
              <a:alpha val="10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6667500" y="8763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FFFFFF">
                <a:alpha val="20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7067550" y="5886450"/>
            <a:ext cx="4267200" cy="9525"/>
          </a:xfrm>
          <a:custGeom>
            <a:avLst/>
            <a:gdLst/>
            <a:ahLst/>
            <a:cxnLst/>
            <a:rect l="l" t="t" r="r" b="b"/>
            <a:pathLst>
              <a:path w="4267200" h="9525">
                <a:moveTo>
                  <a:pt x="0" y="0"/>
                </a:moveTo>
                <a:lnTo>
                  <a:pt x="42672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FFFFFF">
                <a:alpha val="14000"/>
              </a:srgbClr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622935" y="1337310"/>
            <a:ext cx="5591213" cy="2744152"/>
            <a:chOff x="622935" y="1337310"/>
            <a:chExt cx="5591213" cy="2744152"/>
          </a:xfrm>
        </p:grpSpPr>
        <p:sp>
          <p:nvSpPr>
            <p:cNvPr id="8" name="TextBox 8"/>
            <p:cNvSpPr txBox="1"/>
            <p:nvPr/>
          </p:nvSpPr>
          <p:spPr>
            <a:xfrm>
              <a:off x="670560" y="133731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CE7F5"/>
                  </a:solidFill>
                  <a:latin typeface="Arial"/>
                  <a:ea typeface="Microsoft YaHei"/>
                  <a:cs typeface="Arial"/>
                </a:rPr>
                <a:t>PRIVATE READER PROJECT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2935" y="1865948"/>
              <a:ext cx="5591213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Private Reader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7225" y="2767012"/>
              <a:ext cx="488775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AF1FA"/>
                  </a:solidFill>
                  <a:latin typeface="Arial"/>
                  <a:ea typeface="Microsoft YaHei"/>
                  <a:cs typeface="Arial"/>
                </a:rPr>
                <a:t>面向团队与机构的私有阅读平台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4845" y="3403282"/>
              <a:ext cx="38976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6E2F1"/>
                  </a:solidFill>
                  <a:latin typeface="Arial"/>
                  <a:ea typeface="Microsoft YaHei"/>
                  <a:cs typeface="Arial"/>
                </a:rPr>
                <a:t>自托管、多用户、可扩展、离线优先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4845" y="3746182"/>
              <a:ext cx="53917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6E2F1"/>
                  </a:solidFill>
                  <a:latin typeface="Arial"/>
                  <a:ea typeface="Microsoft YaHei"/>
                  <a:cs typeface="Arial"/>
                </a:rPr>
                <a:t>以 Flutter 多端演进为方向的企业级阅读基础设施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4476750"/>
            <a:ext cx="4781550" cy="400050"/>
            <a:chOff x="685800" y="4476750"/>
            <a:chExt cx="4781550" cy="400050"/>
          </a:xfrm>
        </p:grpSpPr>
        <p:sp>
          <p:nvSpPr>
            <p:cNvPr id="14" name="Freeform 14"/>
            <p:cNvSpPr/>
            <p:nvPr/>
          </p:nvSpPr>
          <p:spPr>
            <a:xfrm>
              <a:off x="685800" y="4476750"/>
              <a:ext cx="1504950" cy="400050"/>
            </a:xfrm>
            <a:custGeom>
              <a:avLst/>
              <a:gdLst/>
              <a:ahLst/>
              <a:cxnLst/>
              <a:rect l="l" t="t" r="r" b="b"/>
              <a:pathLst>
                <a:path w="1504950" h="400050">
                  <a:moveTo>
                    <a:pt x="200025" y="0"/>
                  </a:moveTo>
                  <a:lnTo>
                    <a:pt x="1304925" y="0"/>
                  </a:lnTo>
                  <a:cubicBezTo>
                    <a:pt x="1415396" y="0"/>
                    <a:pt x="1504950" y="89554"/>
                    <a:pt x="1504950" y="200025"/>
                  </a:cubicBezTo>
                  <a:lnTo>
                    <a:pt x="1504950" y="200025"/>
                  </a:lnTo>
                  <a:cubicBezTo>
                    <a:pt x="1504950" y="310496"/>
                    <a:pt x="1415396" y="400050"/>
                    <a:pt x="130492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5062" y="4596289"/>
              <a:ext cx="11664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Self-Hosted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2324100" y="4476750"/>
              <a:ext cx="1504950" cy="400050"/>
            </a:xfrm>
            <a:custGeom>
              <a:avLst/>
              <a:gdLst/>
              <a:ahLst/>
              <a:cxnLst/>
              <a:rect l="l" t="t" r="r" b="b"/>
              <a:pathLst>
                <a:path w="1504950" h="400050">
                  <a:moveTo>
                    <a:pt x="200025" y="0"/>
                  </a:moveTo>
                  <a:lnTo>
                    <a:pt x="1304925" y="0"/>
                  </a:lnTo>
                  <a:cubicBezTo>
                    <a:pt x="1415396" y="0"/>
                    <a:pt x="1504950" y="89554"/>
                    <a:pt x="1504950" y="200025"/>
                  </a:cubicBezTo>
                  <a:lnTo>
                    <a:pt x="1504950" y="200025"/>
                  </a:lnTo>
                  <a:cubicBezTo>
                    <a:pt x="1504950" y="310496"/>
                    <a:pt x="1415396" y="400050"/>
                    <a:pt x="130492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15152" y="4596289"/>
              <a:ext cx="13228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Offline-First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3962400" y="4476750"/>
              <a:ext cx="1504950" cy="400050"/>
            </a:xfrm>
            <a:custGeom>
              <a:avLst/>
              <a:gdLst/>
              <a:ahLst/>
              <a:cxnLst/>
              <a:rect l="l" t="t" r="r" b="b"/>
              <a:pathLst>
                <a:path w="1504950" h="400050">
                  <a:moveTo>
                    <a:pt x="200025" y="0"/>
                  </a:moveTo>
                  <a:lnTo>
                    <a:pt x="1304925" y="0"/>
                  </a:lnTo>
                  <a:cubicBezTo>
                    <a:pt x="1415396" y="0"/>
                    <a:pt x="1504950" y="89554"/>
                    <a:pt x="1504950" y="200025"/>
                  </a:cubicBezTo>
                  <a:lnTo>
                    <a:pt x="1504950" y="200025"/>
                  </a:lnTo>
                  <a:cubicBezTo>
                    <a:pt x="1504950" y="310496"/>
                    <a:pt x="1415396" y="400050"/>
                    <a:pt x="130492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190319" y="4596289"/>
              <a:ext cx="104911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Multi-User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43800" y="704850"/>
            <a:ext cx="4038600" cy="5448300"/>
            <a:chOff x="7543800" y="704850"/>
            <a:chExt cx="4038600" cy="5448300"/>
          </a:xfrm>
        </p:grpSpPr>
        <p:sp>
          <p:nvSpPr>
            <p:cNvPr id="21" name="Freeform 21"/>
            <p:cNvSpPr/>
            <p:nvPr/>
          </p:nvSpPr>
          <p:spPr>
            <a:xfrm>
              <a:off x="7543800" y="704850"/>
              <a:ext cx="4038600" cy="5448300"/>
            </a:xfrm>
            <a:custGeom>
              <a:avLst/>
              <a:gdLst/>
              <a:ahLst/>
              <a:cxnLst/>
              <a:rect l="l" t="t" r="r" b="b"/>
              <a:pathLst>
                <a:path w="4038600" h="5448300">
                  <a:moveTo>
                    <a:pt x="323850" y="0"/>
                  </a:moveTo>
                  <a:lnTo>
                    <a:pt x="3714750" y="0"/>
                  </a:lnTo>
                  <a:cubicBezTo>
                    <a:pt x="3893607" y="0"/>
                    <a:pt x="4038600" y="144993"/>
                    <a:pt x="4038600" y="323850"/>
                  </a:cubicBezTo>
                  <a:lnTo>
                    <a:pt x="4038600" y="5124450"/>
                  </a:lnTo>
                  <a:cubicBezTo>
                    <a:pt x="4038600" y="5303307"/>
                    <a:pt x="3893607" y="5448300"/>
                    <a:pt x="3714750" y="5448300"/>
                  </a:cubicBezTo>
                  <a:lnTo>
                    <a:pt x="323850" y="5448300"/>
                  </a:lnTo>
                  <a:cubicBezTo>
                    <a:pt x="144993" y="5448300"/>
                    <a:pt x="0" y="5303307"/>
                    <a:pt x="0" y="5124450"/>
                  </a:cubicBezTo>
                  <a:lnTo>
                    <a:pt x="0" y="323850"/>
                  </a:lnTo>
                  <a:cubicBezTo>
                    <a:pt x="0" y="144993"/>
                    <a:pt x="144993" y="0"/>
                    <a:pt x="323850" y="0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14288">
              <a:solidFill>
                <a:srgbClr val="FFFFFF">
                  <a:alpha val="22000"/>
                </a:srgbClr>
              </a:solidFill>
            </a:ln>
            <a:effectLst>
              <a:outerShdw blurRad="228600" dist="76200" dir="5400000" algn="ctr" rotWithShape="0">
                <a:srgbClr val="081526">
                  <a:alpha val="22500"/>
                </a:srgbClr>
              </a:outerShdw>
            </a:effectLst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58150" y="1028700"/>
              <a:ext cx="3028950" cy="3028950"/>
            </a:xfrm>
            <a:custGeom>
              <a:avLst/>
              <a:gdLst/>
              <a:ahLst/>
              <a:cxnLst/>
              <a:rect l="l" t="t" r="r" b="b"/>
              <a:pathLst>
                <a:path w="3028950" h="3028950">
                  <a:moveTo>
                    <a:pt x="438150" y="0"/>
                  </a:moveTo>
                  <a:lnTo>
                    <a:pt x="2590800" y="0"/>
                  </a:lnTo>
                  <a:cubicBezTo>
                    <a:pt x="2832784" y="0"/>
                    <a:pt x="3028950" y="196166"/>
                    <a:pt x="3028950" y="438150"/>
                  </a:cubicBezTo>
                  <a:lnTo>
                    <a:pt x="3028950" y="2590800"/>
                  </a:lnTo>
                  <a:cubicBezTo>
                    <a:pt x="3028950" y="2832784"/>
                    <a:pt x="2832784" y="3028950"/>
                    <a:pt x="2590800" y="3028950"/>
                  </a:cubicBezTo>
                  <a:lnTo>
                    <a:pt x="438150" y="3028950"/>
                  </a:lnTo>
                  <a:cubicBezTo>
                    <a:pt x="196166" y="3028950"/>
                    <a:pt x="0" y="2832784"/>
                    <a:pt x="0" y="2590800"/>
                  </a:cubicBezTo>
                  <a:lnTo>
                    <a:pt x="0" y="438150"/>
                  </a:lnTo>
                  <a:cubicBezTo>
                    <a:pt x="0" y="196166"/>
                    <a:pt x="196166" y="0"/>
                    <a:pt x="438150" y="0"/>
                  </a:cubicBezTo>
                  <a:close/>
                </a:path>
              </a:pathLst>
            </a:custGeom>
          </p:spPr>
        </p:pic>
        <p:grpSp>
          <p:nvGrpSpPr>
            <p:cNvPr id="27" name="Group 27"/>
            <p:cNvGrpSpPr/>
            <p:nvPr/>
          </p:nvGrpSpPr>
          <p:grpSpPr>
            <a:xfrm>
              <a:off x="7981950" y="4324350"/>
              <a:ext cx="1028700" cy="1104900"/>
              <a:chOff x="7981950" y="4324350"/>
              <a:chExt cx="1028700" cy="11049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981950" y="4324350"/>
                <a:ext cx="1028700" cy="11049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" h="1104900">
                    <a:moveTo>
                      <a:pt x="190500" y="0"/>
                    </a:moveTo>
                    <a:lnTo>
                      <a:pt x="838200" y="0"/>
                    </a:lnTo>
                    <a:cubicBezTo>
                      <a:pt x="943410" y="0"/>
                      <a:pt x="1028700" y="85290"/>
                      <a:pt x="1028700" y="190500"/>
                    </a:cubicBezTo>
                    <a:lnTo>
                      <a:pt x="1028700" y="914400"/>
                    </a:lnTo>
                    <a:cubicBezTo>
                      <a:pt x="1028700" y="1019610"/>
                      <a:pt x="943410" y="1104900"/>
                      <a:pt x="838200" y="1104900"/>
                    </a:cubicBezTo>
                    <a:lnTo>
                      <a:pt x="190500" y="1104900"/>
                    </a:lnTo>
                    <a:cubicBezTo>
                      <a:pt x="85290" y="1104900"/>
                      <a:pt x="0" y="1019610"/>
                      <a:pt x="0" y="914400"/>
                    </a:cubicBezTo>
                    <a:lnTo>
                      <a:pt x="0" y="190500"/>
                    </a:lnTo>
                    <a:cubicBezTo>
                      <a:pt x="0" y="85290"/>
                      <a:pt x="85290" y="0"/>
                      <a:pt x="190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24850" y="4633912"/>
                <a:ext cx="342900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78606">
                    <a:moveTo>
                      <a:pt x="0" y="0"/>
                    </a:moveTo>
                    <a:lnTo>
                      <a:pt x="76848" y="0"/>
                    </a:lnTo>
                    <a:cubicBezTo>
                      <a:pt x="96254" y="0"/>
                      <a:pt x="114865" y="7709"/>
                      <a:pt x="128588" y="21431"/>
                    </a:cubicBezTo>
                    <a:cubicBezTo>
                      <a:pt x="142310" y="35153"/>
                      <a:pt x="150019" y="53765"/>
                      <a:pt x="150019" y="73171"/>
                    </a:cubicBezTo>
                    <a:lnTo>
                      <a:pt x="150019" y="192881"/>
                    </a:lnTo>
                    <a:lnTo>
                      <a:pt x="192881" y="192881"/>
                    </a:lnTo>
                    <a:lnTo>
                      <a:pt x="192881" y="73171"/>
                    </a:lnTo>
                    <a:cubicBezTo>
                      <a:pt x="192881" y="53765"/>
                      <a:pt x="200590" y="35153"/>
                      <a:pt x="214312" y="21431"/>
                    </a:cubicBezTo>
                    <a:cubicBezTo>
                      <a:pt x="228035" y="7709"/>
                      <a:pt x="246646" y="0"/>
                      <a:pt x="266052" y="0"/>
                    </a:cubicBezTo>
                    <a:lnTo>
                      <a:pt x="342900" y="0"/>
                    </a:lnTo>
                    <a:lnTo>
                      <a:pt x="342900" y="235744"/>
                    </a:lnTo>
                    <a:lnTo>
                      <a:pt x="235744" y="235744"/>
                    </a:lnTo>
                    <a:lnTo>
                      <a:pt x="192881" y="278606"/>
                    </a:lnTo>
                    <a:lnTo>
                      <a:pt x="150019" y="278606"/>
                    </a:lnTo>
                    <a:lnTo>
                      <a:pt x="107156" y="235744"/>
                    </a:lnTo>
                    <a:lnTo>
                      <a:pt x="0" y="2357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113014" y="497586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2747"/>
                    </a:solidFill>
                    <a:latin typeface="Arial"/>
                    <a:ea typeface="Microsoft YaHei"/>
                    <a:cs typeface="Arial"/>
                  </a:rPr>
                  <a:t>阅读闭环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248960" y="5228749"/>
                <a:ext cx="4946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678"/>
                    </a:solidFill>
                    <a:latin typeface="Arial"/>
                    <a:ea typeface="Microsoft YaHei"/>
                    <a:cs typeface="Arial"/>
                  </a:rPr>
                  <a:t>Reader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9048750" y="4324350"/>
              <a:ext cx="1028700" cy="1104900"/>
              <a:chOff x="9048750" y="4324350"/>
              <a:chExt cx="1028700" cy="11049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048750" y="4324350"/>
                <a:ext cx="1028700" cy="11049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" h="1104900">
                    <a:moveTo>
                      <a:pt x="190500" y="0"/>
                    </a:moveTo>
                    <a:lnTo>
                      <a:pt x="838200" y="0"/>
                    </a:lnTo>
                    <a:cubicBezTo>
                      <a:pt x="943410" y="0"/>
                      <a:pt x="1028700" y="85290"/>
                      <a:pt x="1028700" y="190500"/>
                    </a:cubicBezTo>
                    <a:lnTo>
                      <a:pt x="1028700" y="914400"/>
                    </a:lnTo>
                    <a:cubicBezTo>
                      <a:pt x="1028700" y="1019610"/>
                      <a:pt x="943410" y="1104900"/>
                      <a:pt x="838200" y="1104900"/>
                    </a:cubicBezTo>
                    <a:lnTo>
                      <a:pt x="190500" y="1104900"/>
                    </a:lnTo>
                    <a:cubicBezTo>
                      <a:pt x="85290" y="1104900"/>
                      <a:pt x="0" y="1019610"/>
                      <a:pt x="0" y="914400"/>
                    </a:cubicBezTo>
                    <a:lnTo>
                      <a:pt x="0" y="190500"/>
                    </a:lnTo>
                    <a:cubicBezTo>
                      <a:pt x="0" y="85290"/>
                      <a:pt x="85290" y="0"/>
                      <a:pt x="190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413081" y="4591050"/>
                <a:ext cx="300038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342900">
                    <a:moveTo>
                      <a:pt x="71797" y="287027"/>
                    </a:moveTo>
                    <a:lnTo>
                      <a:pt x="150019" y="342900"/>
                    </a:lnTo>
                    <a:lnTo>
                      <a:pt x="228241" y="287027"/>
                    </a:lnTo>
                    <a:cubicBezTo>
                      <a:pt x="273298" y="254843"/>
                      <a:pt x="300038" y="202883"/>
                      <a:pt x="300038" y="147513"/>
                    </a:cubicBezTo>
                    <a:lnTo>
                      <a:pt x="300038" y="64294"/>
                    </a:lnTo>
                    <a:lnTo>
                      <a:pt x="150019" y="0"/>
                    </a:lnTo>
                    <a:lnTo>
                      <a:pt x="0" y="64294"/>
                    </a:lnTo>
                    <a:lnTo>
                      <a:pt x="0" y="147513"/>
                    </a:lnTo>
                    <a:cubicBezTo>
                      <a:pt x="0" y="202883"/>
                      <a:pt x="26740" y="254843"/>
                      <a:pt x="71797" y="287027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179814" y="497586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2747"/>
                    </a:solidFill>
                    <a:latin typeface="Arial"/>
                    <a:ea typeface="Microsoft YaHei"/>
                    <a:cs typeface="Arial"/>
                  </a:rPr>
                  <a:t>权限治理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358479" y="5228749"/>
                <a:ext cx="4092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678"/>
                    </a:solidFill>
                    <a:latin typeface="Arial"/>
                    <a:ea typeface="Microsoft YaHei"/>
                    <a:cs typeface="Arial"/>
                  </a:rPr>
                  <a:t>Admin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0115550" y="4324350"/>
              <a:ext cx="1028700" cy="1104900"/>
              <a:chOff x="10115550" y="4324350"/>
              <a:chExt cx="1028700" cy="11049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115550" y="4324350"/>
                <a:ext cx="1028700" cy="11049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" h="1104900">
                    <a:moveTo>
                      <a:pt x="190500" y="0"/>
                    </a:moveTo>
                    <a:lnTo>
                      <a:pt x="838200" y="0"/>
                    </a:lnTo>
                    <a:cubicBezTo>
                      <a:pt x="943410" y="0"/>
                      <a:pt x="1028700" y="85290"/>
                      <a:pt x="1028700" y="190500"/>
                    </a:cubicBezTo>
                    <a:lnTo>
                      <a:pt x="1028700" y="914400"/>
                    </a:lnTo>
                    <a:cubicBezTo>
                      <a:pt x="1028700" y="1019610"/>
                      <a:pt x="943410" y="1104900"/>
                      <a:pt x="838200" y="1104900"/>
                    </a:cubicBezTo>
                    <a:lnTo>
                      <a:pt x="190500" y="1104900"/>
                    </a:lnTo>
                    <a:cubicBezTo>
                      <a:pt x="85290" y="1104900"/>
                      <a:pt x="0" y="1019610"/>
                      <a:pt x="0" y="914400"/>
                    </a:cubicBezTo>
                    <a:lnTo>
                      <a:pt x="0" y="190500"/>
                    </a:lnTo>
                    <a:cubicBezTo>
                      <a:pt x="0" y="85290"/>
                      <a:pt x="85290" y="0"/>
                      <a:pt x="190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458450" y="4633912"/>
                <a:ext cx="3429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57175">
                    <a:moveTo>
                      <a:pt x="171450" y="0"/>
                    </a:moveTo>
                    <a:cubicBezTo>
                      <a:pt x="218794" y="0"/>
                      <a:pt x="257175" y="38380"/>
                      <a:pt x="257175" y="85725"/>
                    </a:cubicBezTo>
                    <a:lnTo>
                      <a:pt x="257175" y="107156"/>
                    </a:lnTo>
                    <a:cubicBezTo>
                      <a:pt x="304519" y="107156"/>
                      <a:pt x="342900" y="145537"/>
                      <a:pt x="342900" y="192881"/>
                    </a:cubicBezTo>
                    <a:lnTo>
                      <a:pt x="342900" y="257175"/>
                    </a:lnTo>
                    <a:lnTo>
                      <a:pt x="192881" y="257175"/>
                    </a:lnTo>
                    <a:lnTo>
                      <a:pt x="235744" y="214312"/>
                    </a:lnTo>
                    <a:lnTo>
                      <a:pt x="235744" y="192881"/>
                    </a:lnTo>
                    <a:lnTo>
                      <a:pt x="192881" y="192881"/>
                    </a:lnTo>
                    <a:lnTo>
                      <a:pt x="192881" y="128588"/>
                    </a:lnTo>
                    <a:lnTo>
                      <a:pt x="150019" y="128588"/>
                    </a:lnTo>
                    <a:lnTo>
                      <a:pt x="150019" y="192881"/>
                    </a:lnTo>
                    <a:lnTo>
                      <a:pt x="107156" y="192881"/>
                    </a:lnTo>
                    <a:lnTo>
                      <a:pt x="107156" y="214312"/>
                    </a:lnTo>
                    <a:lnTo>
                      <a:pt x="150019" y="257175"/>
                    </a:lnTo>
                    <a:lnTo>
                      <a:pt x="0" y="257175"/>
                    </a:lnTo>
                    <a:lnTo>
                      <a:pt x="0" y="171450"/>
                    </a:lnTo>
                    <a:cubicBezTo>
                      <a:pt x="0" y="124105"/>
                      <a:pt x="38380" y="85725"/>
                      <a:pt x="85725" y="85725"/>
                    </a:cubicBezTo>
                    <a:cubicBezTo>
                      <a:pt x="85725" y="38380"/>
                      <a:pt x="124105" y="0"/>
                      <a:pt x="171450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246614" y="497586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2747"/>
                    </a:solidFill>
                    <a:latin typeface="Arial"/>
                    <a:ea typeface="Microsoft YaHei"/>
                    <a:cs typeface="Arial"/>
                  </a:rPr>
                  <a:t>同步基础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0460879" y="5228749"/>
                <a:ext cx="3380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678"/>
                    </a:solidFill>
                    <a:latin typeface="Arial"/>
                    <a:ea typeface="Microsoft YaHei"/>
                    <a:cs typeface="Arial"/>
                  </a:rPr>
                  <a:t>Sync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668655" y="6140768"/>
            <a:ext cx="10469880" cy="274320"/>
            <a:chOff x="668655" y="6140768"/>
            <a:chExt cx="10469880" cy="274320"/>
          </a:xfrm>
        </p:grpSpPr>
        <p:sp>
          <p:nvSpPr>
            <p:cNvPr id="39" name="TextBox 39"/>
            <p:cNvSpPr txBox="1"/>
            <p:nvPr/>
          </p:nvSpPr>
          <p:spPr>
            <a:xfrm>
              <a:off x="668655" y="6140768"/>
              <a:ext cx="25876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1FA"/>
                  </a:solidFill>
                  <a:latin typeface="Georgia"/>
                  <a:ea typeface="SimSun"/>
                  <a:cs typeface="Georgia"/>
                </a:rPr>
                <a:t>Business-Style Promo Deck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81515" y="6173152"/>
              <a:ext cx="15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D6E2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096500" y="-361950"/>
            <a:ext cx="2095500" cy="2095500"/>
          </a:xfrm>
          <a:prstGeom prst="ellipse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14350" y="372428"/>
            <a:ext cx="11163300" cy="1018222"/>
            <a:chOff x="514350" y="372428"/>
            <a:chExt cx="11163300" cy="1018222"/>
          </a:xfrm>
        </p:grpSpPr>
        <p:sp>
          <p:nvSpPr>
            <p:cNvPr id="4" name="Freeform 4"/>
            <p:cNvSpPr/>
            <p:nvPr/>
          </p:nvSpPr>
          <p:spPr>
            <a:xfrm>
              <a:off x="514350" y="381000"/>
              <a:ext cx="76200" cy="342900"/>
            </a:xfrm>
            <a:custGeom>
              <a:avLst/>
              <a:gdLst/>
              <a:ahLst/>
              <a:cxnLst/>
              <a:rect l="l" t="t" r="r" b="b"/>
              <a:pathLst>
                <a:path w="76200" h="342900">
                  <a:moveTo>
                    <a:pt x="38100" y="0"/>
                  </a:moveTo>
                  <a:lnTo>
                    <a:pt x="38100" y="0"/>
                  </a:lnTo>
                  <a:cubicBezTo>
                    <a:pt x="59142" y="0"/>
                    <a:pt x="76200" y="17058"/>
                    <a:pt x="76200" y="38100"/>
                  </a:cubicBezTo>
                  <a:lnTo>
                    <a:pt x="76200" y="304800"/>
                  </a:lnTo>
                  <a:cubicBezTo>
                    <a:pt x="76200" y="325842"/>
                    <a:pt x="59142" y="342900"/>
                    <a:pt x="38100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10565" y="372428"/>
              <a:ext cx="905889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一个能兼顾阅读体验与平台治理的私有阅读基础设施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47977" y="53435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893A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514350" y="876300"/>
              <a:ext cx="11163300" cy="514350"/>
            </a:xfrm>
            <a:custGeom>
              <a:avLst/>
              <a:gdLst/>
              <a:ahLst/>
              <a:cxnLst/>
              <a:rect l="l" t="t" r="r" b="b"/>
              <a:pathLst>
                <a:path w="11163300" h="514350">
                  <a:moveTo>
                    <a:pt x="152400" y="0"/>
                  </a:moveTo>
                  <a:lnTo>
                    <a:pt x="11010900" y="0"/>
                  </a:lnTo>
                  <a:cubicBezTo>
                    <a:pt x="11095068" y="0"/>
                    <a:pt x="11163300" y="68232"/>
                    <a:pt x="11163300" y="152400"/>
                  </a:cubicBezTo>
                  <a:lnTo>
                    <a:pt x="11163300" y="361950"/>
                  </a:lnTo>
                  <a:cubicBezTo>
                    <a:pt x="11163300" y="446118"/>
                    <a:pt x="11095068" y="514350"/>
                    <a:pt x="11010900" y="514350"/>
                  </a:cubicBezTo>
                  <a:lnTo>
                    <a:pt x="152400" y="514350"/>
                  </a:lnTo>
                  <a:cubicBezTo>
                    <a:pt x="68232" y="514350"/>
                    <a:pt x="0" y="446118"/>
                    <a:pt x="0" y="3619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9EEF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5805" y="1054418"/>
              <a:ext cx="77238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项目不是单点阅读工具，而是一套覆盖读者端、后台端与资源入库链路的完整平台能力。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14350" y="1695450"/>
            <a:ext cx="7377827" cy="4362450"/>
            <a:chOff x="514350" y="1695450"/>
            <a:chExt cx="7377827" cy="4362450"/>
          </a:xfrm>
        </p:grpSpPr>
        <p:sp>
          <p:nvSpPr>
            <p:cNvPr id="10" name="Freeform 10"/>
            <p:cNvSpPr/>
            <p:nvPr/>
          </p:nvSpPr>
          <p:spPr>
            <a:xfrm>
              <a:off x="514350" y="1695450"/>
              <a:ext cx="4095750" cy="4362450"/>
            </a:xfrm>
            <a:custGeom>
              <a:avLst/>
              <a:gdLst/>
              <a:ahLst/>
              <a:cxnLst/>
              <a:rect l="l" t="t" r="r" b="b"/>
              <a:pathLst>
                <a:path w="4095750" h="4362450">
                  <a:moveTo>
                    <a:pt x="228600" y="0"/>
                  </a:moveTo>
                  <a:lnTo>
                    <a:pt x="3867150" y="0"/>
                  </a:lnTo>
                  <a:cubicBezTo>
                    <a:pt x="3993402" y="0"/>
                    <a:pt x="4095750" y="102348"/>
                    <a:pt x="4095750" y="228600"/>
                  </a:cubicBezTo>
                  <a:lnTo>
                    <a:pt x="4095750" y="4133850"/>
                  </a:lnTo>
                  <a:cubicBezTo>
                    <a:pt x="4095750" y="4260102"/>
                    <a:pt x="3993402" y="4362450"/>
                    <a:pt x="3867150" y="4362450"/>
                  </a:cubicBezTo>
                  <a:lnTo>
                    <a:pt x="228600" y="4362450"/>
                  </a:lnTo>
                  <a:cubicBezTo>
                    <a:pt x="102348" y="4362450"/>
                    <a:pt x="0" y="4260102"/>
                    <a:pt x="0" y="413385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6DDE8"/>
              </a:solidFill>
            </a:ln>
            <a:effectLst>
              <a:outerShdw blurRad="190500" dist="57150" dir="5400000" algn="ctr" rotWithShape="0">
                <a:srgbClr val="5B6678">
                  <a:alpha val="135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815340" y="2129790"/>
              <a:ext cx="391020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为什么它值得被当作平台来看待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0100" y="2457450"/>
              <a:ext cx="709207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65C0"/>
                  </a:solidFill>
                  <a:latin typeface="Georgia"/>
                  <a:ea typeface="SimSun"/>
                  <a:cs typeface="Georgia"/>
                </a:rPr>
                <a:t>Private Reading Infrastructure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9150" y="3114675"/>
              <a:ext cx="4638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适合团队、机构、企业搭建私有书库、知识分发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9150" y="3419475"/>
              <a:ext cx="49125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与阅读工作台，而不是局限于单一 App 页面展示。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838200" y="4114800"/>
              <a:ext cx="247650" cy="247650"/>
              <a:chOff x="838200" y="4114800"/>
              <a:chExt cx="247650" cy="2476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900112" y="4176712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61912" y="0"/>
                    </a:moveTo>
                    <a:cubicBezTo>
                      <a:pt x="27719" y="0"/>
                      <a:pt x="0" y="27719"/>
                      <a:pt x="0" y="61912"/>
                    </a:cubicBezTo>
                    <a:cubicBezTo>
                      <a:pt x="0" y="96105"/>
                      <a:pt x="27719" y="123825"/>
                      <a:pt x="61912" y="123825"/>
                    </a:cubicBezTo>
                    <a:cubicBezTo>
                      <a:pt x="96105" y="123825"/>
                      <a:pt x="123825" y="96105"/>
                      <a:pt x="123825" y="61912"/>
                    </a:cubicBezTo>
                    <a:cubicBezTo>
                      <a:pt x="123825" y="27719"/>
                      <a:pt x="96105" y="0"/>
                      <a:pt x="61912" y="0"/>
                    </a:cubicBezTo>
                    <a:close/>
                    <a:moveTo>
                      <a:pt x="30956" y="61912"/>
                    </a:moveTo>
                    <a:cubicBezTo>
                      <a:pt x="30956" y="44816"/>
                      <a:pt x="44816" y="30956"/>
                      <a:pt x="61912" y="30956"/>
                    </a:cubicBezTo>
                    <a:cubicBezTo>
                      <a:pt x="79009" y="30956"/>
                      <a:pt x="92869" y="44816"/>
                      <a:pt x="92869" y="61912"/>
                    </a:cubicBezTo>
                    <a:cubicBezTo>
                      <a:pt x="92869" y="79009"/>
                      <a:pt x="79009" y="92869"/>
                      <a:pt x="61912" y="92869"/>
                    </a:cubicBezTo>
                    <a:cubicBezTo>
                      <a:pt x="44816" y="92869"/>
                      <a:pt x="30956" y="79009"/>
                      <a:pt x="30956" y="61912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411480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23825" y="0"/>
                    </a:moveTo>
                    <a:cubicBezTo>
                      <a:pt x="55438" y="0"/>
                      <a:pt x="0" y="55438"/>
                      <a:pt x="0" y="123825"/>
                    </a:cubicBezTo>
                    <a:cubicBezTo>
                      <a:pt x="0" y="192212"/>
                      <a:pt x="55438" y="247650"/>
                      <a:pt x="123825" y="247650"/>
                    </a:cubicBezTo>
                    <a:cubicBezTo>
                      <a:pt x="192212" y="247650"/>
                      <a:pt x="247650" y="192212"/>
                      <a:pt x="247650" y="123825"/>
                    </a:cubicBezTo>
                    <a:cubicBezTo>
                      <a:pt x="247650" y="55438"/>
                      <a:pt x="192212" y="0"/>
                      <a:pt x="123825" y="0"/>
                    </a:cubicBezTo>
                    <a:close/>
                    <a:moveTo>
                      <a:pt x="30956" y="123825"/>
                    </a:moveTo>
                    <a:cubicBezTo>
                      <a:pt x="30956" y="72535"/>
                      <a:pt x="72535" y="30956"/>
                      <a:pt x="123825" y="30956"/>
                    </a:cubicBezTo>
                    <a:cubicBezTo>
                      <a:pt x="175115" y="30956"/>
                      <a:pt x="216694" y="72535"/>
                      <a:pt x="216694" y="123825"/>
                    </a:cubicBezTo>
                    <a:cubicBezTo>
                      <a:pt x="216694" y="175115"/>
                      <a:pt x="175115" y="216694"/>
                      <a:pt x="123825" y="216694"/>
                    </a:cubicBezTo>
                    <a:cubicBezTo>
                      <a:pt x="72535" y="216694"/>
                      <a:pt x="30956" y="175115"/>
                      <a:pt x="30956" y="123825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202055" y="4159568"/>
              <a:ext cx="35833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面向长期演进：阶段一先完成可交付闭环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53678" y="4629150"/>
              <a:ext cx="216694" cy="247650"/>
            </a:xfrm>
            <a:custGeom>
              <a:avLst/>
              <a:gdLst/>
              <a:ahLst/>
              <a:cxnLst/>
              <a:rect l="l" t="t" r="r" b="b"/>
              <a:pathLst>
                <a:path w="216694" h="247650">
                  <a:moveTo>
                    <a:pt x="51853" y="207297"/>
                  </a:moveTo>
                  <a:lnTo>
                    <a:pt x="108347" y="247650"/>
                  </a:lnTo>
                  <a:lnTo>
                    <a:pt x="164840" y="207297"/>
                  </a:lnTo>
                  <a:cubicBezTo>
                    <a:pt x="197382" y="184053"/>
                    <a:pt x="216694" y="146526"/>
                    <a:pt x="216694" y="106537"/>
                  </a:cubicBezTo>
                  <a:lnTo>
                    <a:pt x="216694" y="46434"/>
                  </a:lnTo>
                  <a:lnTo>
                    <a:pt x="108347" y="0"/>
                  </a:lnTo>
                  <a:lnTo>
                    <a:pt x="0" y="46434"/>
                  </a:lnTo>
                  <a:lnTo>
                    <a:pt x="0" y="106537"/>
                  </a:lnTo>
                  <a:cubicBezTo>
                    <a:pt x="0" y="146526"/>
                    <a:pt x="19313" y="184053"/>
                    <a:pt x="51853" y="207297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02055" y="4673918"/>
              <a:ext cx="37804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面向治理：多角色、多入口、管理链路完整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839158" y="5143500"/>
              <a:ext cx="245734" cy="247650"/>
              <a:chOff x="839158" y="5143500"/>
              <a:chExt cx="245734" cy="2476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9158" y="5194702"/>
                <a:ext cx="245734" cy="57145"/>
              </a:xfrm>
              <a:custGeom>
                <a:avLst/>
                <a:gdLst/>
                <a:ahLst/>
                <a:cxnLst/>
                <a:rect l="l" t="t" r="r" b="b"/>
                <a:pathLst>
                  <a:path w="245734" h="57145">
                    <a:moveTo>
                      <a:pt x="22564" y="0"/>
                    </a:moveTo>
                    <a:cubicBezTo>
                      <a:pt x="10626" y="16460"/>
                      <a:pt x="2640" y="35972"/>
                      <a:pt x="0" y="57145"/>
                    </a:cubicBezTo>
                    <a:lnTo>
                      <a:pt x="245734" y="57145"/>
                    </a:lnTo>
                    <a:cubicBezTo>
                      <a:pt x="243093" y="35972"/>
                      <a:pt x="235108" y="16460"/>
                      <a:pt x="223170" y="0"/>
                    </a:cubicBezTo>
                    <a:cubicBezTo>
                      <a:pt x="222526" y="360"/>
                      <a:pt x="221873" y="721"/>
                      <a:pt x="221212" y="1082"/>
                    </a:cubicBezTo>
                    <a:cubicBezTo>
                      <a:pt x="198221" y="13622"/>
                      <a:pt x="164728" y="26189"/>
                      <a:pt x="122867" y="26189"/>
                    </a:cubicBezTo>
                    <a:cubicBezTo>
                      <a:pt x="81006" y="26189"/>
                      <a:pt x="47512" y="13622"/>
                      <a:pt x="24521" y="1082"/>
                    </a:cubicBezTo>
                    <a:cubicBezTo>
                      <a:pt x="23860" y="721"/>
                      <a:pt x="23208" y="361"/>
                      <a:pt x="22564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83764" y="5143500"/>
                <a:ext cx="156522" cy="46434"/>
              </a:xfrm>
              <a:custGeom>
                <a:avLst/>
                <a:gdLst/>
                <a:ahLst/>
                <a:cxnLst/>
                <a:rect l="l" t="t" r="r" b="b"/>
                <a:pathLst>
                  <a:path w="156522" h="46434">
                    <a:moveTo>
                      <a:pt x="156522" y="27862"/>
                    </a:moveTo>
                    <a:cubicBezTo>
                      <a:pt x="137254" y="37542"/>
                      <a:pt x="110726" y="46434"/>
                      <a:pt x="78261" y="46434"/>
                    </a:cubicBezTo>
                    <a:cubicBezTo>
                      <a:pt x="45795" y="46434"/>
                      <a:pt x="19268" y="37542"/>
                      <a:pt x="0" y="27863"/>
                    </a:cubicBezTo>
                    <a:cubicBezTo>
                      <a:pt x="21330" y="10446"/>
                      <a:pt x="48576" y="0"/>
                      <a:pt x="78261" y="0"/>
                    </a:cubicBezTo>
                    <a:cubicBezTo>
                      <a:pt x="107946" y="0"/>
                      <a:pt x="135191" y="10446"/>
                      <a:pt x="156522" y="27862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9158" y="5282803"/>
                <a:ext cx="245734" cy="57145"/>
              </a:xfrm>
              <a:custGeom>
                <a:avLst/>
                <a:gdLst/>
                <a:ahLst/>
                <a:cxnLst/>
                <a:rect l="l" t="t" r="r" b="b"/>
                <a:pathLst>
                  <a:path w="245734" h="57145">
                    <a:moveTo>
                      <a:pt x="0" y="0"/>
                    </a:moveTo>
                    <a:cubicBezTo>
                      <a:pt x="2640" y="21173"/>
                      <a:pt x="10626" y="40686"/>
                      <a:pt x="22564" y="57145"/>
                    </a:cubicBezTo>
                    <a:cubicBezTo>
                      <a:pt x="23208" y="56785"/>
                      <a:pt x="23860" y="56424"/>
                      <a:pt x="24521" y="56063"/>
                    </a:cubicBezTo>
                    <a:cubicBezTo>
                      <a:pt x="47512" y="43523"/>
                      <a:pt x="81006" y="30956"/>
                      <a:pt x="122867" y="30956"/>
                    </a:cubicBezTo>
                    <a:cubicBezTo>
                      <a:pt x="164728" y="30956"/>
                      <a:pt x="198222" y="43523"/>
                      <a:pt x="221212" y="56063"/>
                    </a:cubicBezTo>
                    <a:cubicBezTo>
                      <a:pt x="221874" y="56424"/>
                      <a:pt x="222526" y="56785"/>
                      <a:pt x="223170" y="57145"/>
                    </a:cubicBezTo>
                    <a:cubicBezTo>
                      <a:pt x="235108" y="40686"/>
                      <a:pt x="243093" y="21173"/>
                      <a:pt x="24573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83764" y="5344716"/>
                <a:ext cx="156521" cy="46434"/>
              </a:xfrm>
              <a:custGeom>
                <a:avLst/>
                <a:gdLst/>
                <a:ahLst/>
                <a:cxnLst/>
                <a:rect l="l" t="t" r="r" b="b"/>
                <a:pathLst>
                  <a:path w="156521" h="46434">
                    <a:moveTo>
                      <a:pt x="78261" y="46434"/>
                    </a:moveTo>
                    <a:cubicBezTo>
                      <a:pt x="48576" y="46434"/>
                      <a:pt x="21330" y="35988"/>
                      <a:pt x="0" y="18572"/>
                    </a:cubicBezTo>
                    <a:cubicBezTo>
                      <a:pt x="19268" y="8892"/>
                      <a:pt x="45795" y="0"/>
                      <a:pt x="78261" y="0"/>
                    </a:cubicBezTo>
                    <a:cubicBezTo>
                      <a:pt x="110726" y="0"/>
                      <a:pt x="137254" y="8892"/>
                      <a:pt x="156521" y="18572"/>
                    </a:cubicBezTo>
                    <a:cubicBezTo>
                      <a:pt x="135191" y="35988"/>
                      <a:pt x="107946" y="46434"/>
                      <a:pt x="78261" y="46434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202055" y="5188268"/>
              <a:ext cx="35635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面向多端：Flutter 将作为统一前端基座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38200" y="5619750"/>
              <a:ext cx="1524000" cy="285750"/>
            </a:xfrm>
            <a:custGeom>
              <a:avLst/>
              <a:gdLst/>
              <a:ahLst/>
              <a:cxnLst/>
              <a:rect l="l" t="t" r="r" b="b"/>
              <a:pathLst>
                <a:path w="1524000" h="285750">
                  <a:moveTo>
                    <a:pt x="142875" y="0"/>
                  </a:moveTo>
                  <a:lnTo>
                    <a:pt x="1381125" y="0"/>
                  </a:lnTo>
                  <a:cubicBezTo>
                    <a:pt x="1460033" y="0"/>
                    <a:pt x="1524000" y="63967"/>
                    <a:pt x="1524000" y="142875"/>
                  </a:cubicBezTo>
                  <a:lnTo>
                    <a:pt x="1524000" y="142875"/>
                  </a:lnTo>
                  <a:cubicBezTo>
                    <a:pt x="1524000" y="221783"/>
                    <a:pt x="1460033" y="285750"/>
                    <a:pt x="13811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16081" y="5706428"/>
              <a:ext cx="21682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backend + mobile 为当前主线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914900" y="1695450"/>
            <a:ext cx="6690741" cy="4362450"/>
            <a:chOff x="4914900" y="1695450"/>
            <a:chExt cx="6690741" cy="4362450"/>
          </a:xfrm>
        </p:grpSpPr>
        <p:grpSp>
          <p:nvGrpSpPr>
            <p:cNvPr id="37" name="Group 37"/>
            <p:cNvGrpSpPr/>
            <p:nvPr/>
          </p:nvGrpSpPr>
          <p:grpSpPr>
            <a:xfrm>
              <a:off x="4914900" y="1695450"/>
              <a:ext cx="3260407" cy="2038350"/>
              <a:chOff x="4914900" y="1695450"/>
              <a:chExt cx="3260407" cy="203835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914900" y="1695450"/>
                <a:ext cx="31813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3181350" h="2038350">
                    <a:moveTo>
                      <a:pt x="209550" y="0"/>
                    </a:moveTo>
                    <a:lnTo>
                      <a:pt x="2971800" y="0"/>
                    </a:lnTo>
                    <a:cubicBezTo>
                      <a:pt x="3087531" y="0"/>
                      <a:pt x="3181350" y="93819"/>
                      <a:pt x="3181350" y="209550"/>
                    </a:cubicBezTo>
                    <a:lnTo>
                      <a:pt x="3181350" y="1828800"/>
                    </a:lnTo>
                    <a:cubicBezTo>
                      <a:pt x="3181350" y="1944531"/>
                      <a:pt x="3087531" y="2038350"/>
                      <a:pt x="2971800" y="2038350"/>
                    </a:cubicBezTo>
                    <a:lnTo>
                      <a:pt x="209550" y="2038350"/>
                    </a:lnTo>
                    <a:cubicBezTo>
                      <a:pt x="93819" y="2038350"/>
                      <a:pt x="0" y="1944531"/>
                      <a:pt x="0" y="1828800"/>
                    </a:cubicBezTo>
                    <a:lnTo>
                      <a:pt x="0" y="209550"/>
                    </a:lnTo>
                    <a:cubicBezTo>
                      <a:pt x="0" y="93819"/>
                      <a:pt x="93819" y="0"/>
                      <a:pt x="2095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D6DDE8"/>
                </a:solidFill>
              </a:ln>
              <a:effectLst>
                <a:outerShdw blurRad="190500" dist="57150" dir="5400000" algn="ctr" rotWithShape="0">
                  <a:srgbClr val="5B6678">
                    <a:alpha val="13500"/>
                  </a:srgbClr>
                </a:outerShdw>
              </a:effectLst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5200650" y="2019300"/>
                <a:ext cx="323850" cy="323850"/>
                <a:chOff x="5200650" y="2019300"/>
                <a:chExt cx="323850" cy="323850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5281612" y="2100262"/>
                  <a:ext cx="1619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61925">
                      <a:moveTo>
                        <a:pt x="80962" y="0"/>
                      </a:moveTo>
                      <a:cubicBezTo>
                        <a:pt x="36248" y="0"/>
                        <a:pt x="0" y="36248"/>
                        <a:pt x="0" y="80962"/>
                      </a:cubicBezTo>
                      <a:cubicBezTo>
                        <a:pt x="0" y="125676"/>
                        <a:pt x="36248" y="161925"/>
                        <a:pt x="80962" y="161925"/>
                      </a:cubicBezTo>
                      <a:cubicBezTo>
                        <a:pt x="125676" y="161925"/>
                        <a:pt x="161925" y="125676"/>
                        <a:pt x="161925" y="80962"/>
                      </a:cubicBezTo>
                      <a:cubicBezTo>
                        <a:pt x="161925" y="36248"/>
                        <a:pt x="125676" y="0"/>
                        <a:pt x="80962" y="0"/>
                      </a:cubicBezTo>
                      <a:close/>
                      <a:moveTo>
                        <a:pt x="40481" y="80962"/>
                      </a:moveTo>
                      <a:cubicBezTo>
                        <a:pt x="40481" y="58605"/>
                        <a:pt x="58605" y="40481"/>
                        <a:pt x="80962" y="40481"/>
                      </a:cubicBezTo>
                      <a:cubicBezTo>
                        <a:pt x="103320" y="40481"/>
                        <a:pt x="121444" y="58605"/>
                        <a:pt x="121444" y="80962"/>
                      </a:cubicBezTo>
                      <a:cubicBezTo>
                        <a:pt x="121444" y="103320"/>
                        <a:pt x="103320" y="121444"/>
                        <a:pt x="80962" y="121444"/>
                      </a:cubicBezTo>
                      <a:cubicBezTo>
                        <a:pt x="58605" y="121444"/>
                        <a:pt x="40481" y="103320"/>
                        <a:pt x="40481" y="80962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5200650" y="2019300"/>
                  <a:ext cx="323850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50" h="323850">
                      <a:moveTo>
                        <a:pt x="161925" y="0"/>
                      </a:moveTo>
                      <a:cubicBezTo>
                        <a:pt x="72496" y="0"/>
                        <a:pt x="0" y="72496"/>
                        <a:pt x="0" y="161925"/>
                      </a:cubicBezTo>
                      <a:cubicBezTo>
                        <a:pt x="0" y="251354"/>
                        <a:pt x="72496" y="323850"/>
                        <a:pt x="161925" y="323850"/>
                      </a:cubicBezTo>
                      <a:cubicBezTo>
                        <a:pt x="251354" y="323850"/>
                        <a:pt x="323850" y="251354"/>
                        <a:pt x="323850" y="161925"/>
                      </a:cubicBezTo>
                      <a:cubicBezTo>
                        <a:pt x="323850" y="72496"/>
                        <a:pt x="251354" y="0"/>
                        <a:pt x="161925" y="0"/>
                      </a:cubicBezTo>
                      <a:close/>
                      <a:moveTo>
                        <a:pt x="40481" y="161925"/>
                      </a:moveTo>
                      <a:cubicBezTo>
                        <a:pt x="40481" y="94853"/>
                        <a:pt x="94853" y="40481"/>
                        <a:pt x="161925" y="40481"/>
                      </a:cubicBezTo>
                      <a:cubicBezTo>
                        <a:pt x="228996" y="40481"/>
                        <a:pt x="283369" y="94853"/>
                        <a:pt x="283369" y="161925"/>
                      </a:cubicBezTo>
                      <a:cubicBezTo>
                        <a:pt x="283369" y="228996"/>
                        <a:pt x="228996" y="283369"/>
                        <a:pt x="161925" y="283369"/>
                      </a:cubicBezTo>
                      <a:cubicBezTo>
                        <a:pt x="94853" y="283369"/>
                        <a:pt x="40481" y="228996"/>
                        <a:pt x="40481" y="161925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5655945" y="2069782"/>
                <a:ext cx="181313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2747"/>
                    </a:solidFill>
                    <a:latin typeface="Arial"/>
                    <a:ea typeface="Microsoft YaHei"/>
                    <a:cs typeface="Arial"/>
                  </a:rPr>
                  <a:t>自托管平台定位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183505" y="2540318"/>
                <a:ext cx="279463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支持机构按自身数据与部署环境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183505" y="2807018"/>
                <a:ext cx="29918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掌控阅读内容、账号与服务边界。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8305800" y="1695450"/>
              <a:ext cx="3181350" cy="2038350"/>
              <a:chOff x="8305800" y="1695450"/>
              <a:chExt cx="3181350" cy="203835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05800" y="1695450"/>
                <a:ext cx="31813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3181350" h="2038350">
                    <a:moveTo>
                      <a:pt x="209550" y="0"/>
                    </a:moveTo>
                    <a:lnTo>
                      <a:pt x="2971800" y="0"/>
                    </a:lnTo>
                    <a:cubicBezTo>
                      <a:pt x="3087531" y="0"/>
                      <a:pt x="3181350" y="93819"/>
                      <a:pt x="3181350" y="209550"/>
                    </a:cubicBezTo>
                    <a:lnTo>
                      <a:pt x="3181350" y="1828800"/>
                    </a:lnTo>
                    <a:cubicBezTo>
                      <a:pt x="3181350" y="1944531"/>
                      <a:pt x="3087531" y="2038350"/>
                      <a:pt x="2971800" y="2038350"/>
                    </a:cubicBezTo>
                    <a:lnTo>
                      <a:pt x="209550" y="2038350"/>
                    </a:lnTo>
                    <a:cubicBezTo>
                      <a:pt x="93819" y="2038350"/>
                      <a:pt x="0" y="1944531"/>
                      <a:pt x="0" y="1828800"/>
                    </a:cubicBezTo>
                    <a:lnTo>
                      <a:pt x="0" y="209550"/>
                    </a:lnTo>
                    <a:cubicBezTo>
                      <a:pt x="0" y="93819"/>
                      <a:pt x="93819" y="0"/>
                      <a:pt x="2095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D6DDE8"/>
                </a:solidFill>
              </a:ln>
              <a:effectLst>
                <a:outerShdw blurRad="190500" dist="57150" dir="5400000" algn="ctr" rotWithShape="0">
                  <a:srgbClr val="5B6678">
                    <a:alpha val="13500"/>
                  </a:srgbClr>
                </a:outerShdw>
              </a:effectLst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8591550" y="2039541"/>
                <a:ext cx="323850" cy="283368"/>
                <a:chOff x="8591550" y="2039541"/>
                <a:chExt cx="323850" cy="283368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8652272" y="2039541"/>
                  <a:ext cx="101203" cy="10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203" h="101203">
                      <a:moveTo>
                        <a:pt x="101203" y="50602"/>
                      </a:moveTo>
                      <a:cubicBezTo>
                        <a:pt x="101203" y="78548"/>
                        <a:pt x="78548" y="101203"/>
                        <a:pt x="50602" y="101203"/>
                      </a:cubicBezTo>
                      <a:cubicBezTo>
                        <a:pt x="22655" y="101203"/>
                        <a:pt x="0" y="78548"/>
                        <a:pt x="0" y="50602"/>
                      </a:cubicBezTo>
                      <a:cubicBezTo>
                        <a:pt x="0" y="22655"/>
                        <a:pt x="22655" y="0"/>
                        <a:pt x="50602" y="0"/>
                      </a:cubicBezTo>
                      <a:cubicBezTo>
                        <a:pt x="78548" y="0"/>
                        <a:pt x="101203" y="22655"/>
                        <a:pt x="101203" y="50602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8591550" y="2181225"/>
                  <a:ext cx="161925" cy="141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41684">
                      <a:moveTo>
                        <a:pt x="60722" y="0"/>
                      </a:moveTo>
                      <a:cubicBezTo>
                        <a:pt x="27186" y="0"/>
                        <a:pt x="0" y="27186"/>
                        <a:pt x="0" y="60722"/>
                      </a:cubicBezTo>
                      <a:lnTo>
                        <a:pt x="0" y="141684"/>
                      </a:lnTo>
                      <a:lnTo>
                        <a:pt x="161925" y="141684"/>
                      </a:lnTo>
                      <a:lnTo>
                        <a:pt x="161925" y="0"/>
                      </a:lnTo>
                      <a:lnTo>
                        <a:pt x="60722" y="0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8793956" y="2181225"/>
                  <a:ext cx="121444" cy="141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444" h="141684">
                      <a:moveTo>
                        <a:pt x="60722" y="0"/>
                      </a:moveTo>
                      <a:lnTo>
                        <a:pt x="0" y="0"/>
                      </a:lnTo>
                      <a:lnTo>
                        <a:pt x="0" y="141684"/>
                      </a:lnTo>
                      <a:lnTo>
                        <a:pt x="121444" y="141684"/>
                      </a:lnTo>
                      <a:lnTo>
                        <a:pt x="121444" y="60722"/>
                      </a:lnTo>
                      <a:cubicBezTo>
                        <a:pt x="121444" y="27186"/>
                        <a:pt x="94259" y="0"/>
                        <a:pt x="60722" y="0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8793956" y="2059781"/>
                  <a:ext cx="80962" cy="80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2" h="80962">
                      <a:moveTo>
                        <a:pt x="40481" y="80962"/>
                      </a:moveTo>
                      <a:cubicBezTo>
                        <a:pt x="62839" y="80962"/>
                        <a:pt x="80962" y="62838"/>
                        <a:pt x="80962" y="40481"/>
                      </a:cubicBezTo>
                      <a:cubicBezTo>
                        <a:pt x="80962" y="18124"/>
                        <a:pt x="62839" y="0"/>
                        <a:pt x="40481" y="0"/>
                      </a:cubicBezTo>
                      <a:cubicBezTo>
                        <a:pt x="18123" y="0"/>
                        <a:pt x="0" y="18124"/>
                        <a:pt x="0" y="40481"/>
                      </a:cubicBezTo>
                      <a:cubicBezTo>
                        <a:pt x="0" y="62838"/>
                        <a:pt x="18123" y="80962"/>
                        <a:pt x="40481" y="80962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9046845" y="2069782"/>
                <a:ext cx="206616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2747"/>
                    </a:solidFill>
                    <a:latin typeface="Arial"/>
                    <a:ea typeface="Microsoft YaHei"/>
                    <a:cs typeface="Arial"/>
                  </a:rPr>
                  <a:t>多用户与权限治理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574405" y="2540318"/>
                <a:ext cx="279463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普通用户、管理员、超级管理员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574405" y="2807018"/>
                <a:ext cx="279463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形成清晰权限边界和管理入口。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4914900" y="4019550"/>
              <a:ext cx="3457575" cy="2038350"/>
              <a:chOff x="4914900" y="4019550"/>
              <a:chExt cx="3457575" cy="20383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4914900" y="4019550"/>
                <a:ext cx="31813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3181350" h="2038350">
                    <a:moveTo>
                      <a:pt x="209550" y="0"/>
                    </a:moveTo>
                    <a:lnTo>
                      <a:pt x="2971800" y="0"/>
                    </a:lnTo>
                    <a:cubicBezTo>
                      <a:pt x="3087531" y="0"/>
                      <a:pt x="3181350" y="93819"/>
                      <a:pt x="3181350" y="209550"/>
                    </a:cubicBezTo>
                    <a:lnTo>
                      <a:pt x="3181350" y="1828800"/>
                    </a:lnTo>
                    <a:cubicBezTo>
                      <a:pt x="3181350" y="1944531"/>
                      <a:pt x="3087531" y="2038350"/>
                      <a:pt x="2971800" y="2038350"/>
                    </a:cubicBezTo>
                    <a:lnTo>
                      <a:pt x="209550" y="2038350"/>
                    </a:lnTo>
                    <a:cubicBezTo>
                      <a:pt x="93819" y="2038350"/>
                      <a:pt x="0" y="1944531"/>
                      <a:pt x="0" y="1828800"/>
                    </a:cubicBezTo>
                    <a:lnTo>
                      <a:pt x="0" y="209550"/>
                    </a:lnTo>
                    <a:cubicBezTo>
                      <a:pt x="0" y="93819"/>
                      <a:pt x="93819" y="0"/>
                      <a:pt x="2095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D6DDE8"/>
                </a:solidFill>
              </a:ln>
              <a:effectLst>
                <a:outerShdw blurRad="190500" dist="57150" dir="5400000" algn="ctr" rotWithShape="0">
                  <a:srgbClr val="5B6678">
                    <a:alpha val="13500"/>
                  </a:srgbClr>
                </a:outerShdw>
              </a:effectLst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200650" y="4383881"/>
                <a:ext cx="323850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242888">
                    <a:moveTo>
                      <a:pt x="161925" y="0"/>
                    </a:moveTo>
                    <a:cubicBezTo>
                      <a:pt x="206639" y="0"/>
                      <a:pt x="242888" y="36248"/>
                      <a:pt x="242888" y="80962"/>
                    </a:cubicBezTo>
                    <a:lnTo>
                      <a:pt x="242888" y="101203"/>
                    </a:lnTo>
                    <a:cubicBezTo>
                      <a:pt x="287601" y="101203"/>
                      <a:pt x="323850" y="137451"/>
                      <a:pt x="323850" y="182166"/>
                    </a:cubicBezTo>
                    <a:lnTo>
                      <a:pt x="323850" y="242888"/>
                    </a:lnTo>
                    <a:lnTo>
                      <a:pt x="182166" y="242888"/>
                    </a:lnTo>
                    <a:lnTo>
                      <a:pt x="222647" y="202406"/>
                    </a:lnTo>
                    <a:lnTo>
                      <a:pt x="222647" y="182166"/>
                    </a:lnTo>
                    <a:lnTo>
                      <a:pt x="182166" y="182166"/>
                    </a:lnTo>
                    <a:lnTo>
                      <a:pt x="182166" y="121444"/>
                    </a:lnTo>
                    <a:lnTo>
                      <a:pt x="141684" y="121444"/>
                    </a:lnTo>
                    <a:lnTo>
                      <a:pt x="141684" y="182166"/>
                    </a:lnTo>
                    <a:lnTo>
                      <a:pt x="101203" y="182166"/>
                    </a:lnTo>
                    <a:lnTo>
                      <a:pt x="101203" y="202406"/>
                    </a:lnTo>
                    <a:lnTo>
                      <a:pt x="141684" y="242888"/>
                    </a:lnTo>
                    <a:lnTo>
                      <a:pt x="0" y="242888"/>
                    </a:lnTo>
                    <a:lnTo>
                      <a:pt x="0" y="161925"/>
                    </a:lnTo>
                    <a:cubicBezTo>
                      <a:pt x="0" y="117211"/>
                      <a:pt x="36248" y="80962"/>
                      <a:pt x="80962" y="80962"/>
                    </a:cubicBezTo>
                    <a:cubicBezTo>
                      <a:pt x="80962" y="36248"/>
                      <a:pt x="117211" y="0"/>
                      <a:pt x="161925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5655945" y="4393882"/>
                <a:ext cx="206616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2747"/>
                    </a:solidFill>
                    <a:latin typeface="Arial"/>
                    <a:ea typeface="Microsoft YaHei"/>
                    <a:cs typeface="Arial"/>
                  </a:rPr>
                  <a:t>离线优先同步能力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183505" y="4864418"/>
                <a:ext cx="318897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批注、书签、阅读进度具备本地存储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183505" y="5131118"/>
                <a:ext cx="318897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与同步协同基础，适合移动端场景。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8305800" y="4019550"/>
              <a:ext cx="3299841" cy="2038350"/>
              <a:chOff x="8305800" y="4019550"/>
              <a:chExt cx="3299841" cy="203835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305800" y="4019550"/>
                <a:ext cx="31813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3181350" h="2038350">
                    <a:moveTo>
                      <a:pt x="209550" y="0"/>
                    </a:moveTo>
                    <a:lnTo>
                      <a:pt x="2971800" y="0"/>
                    </a:lnTo>
                    <a:cubicBezTo>
                      <a:pt x="3087531" y="0"/>
                      <a:pt x="3181350" y="93819"/>
                      <a:pt x="3181350" y="209550"/>
                    </a:cubicBezTo>
                    <a:lnTo>
                      <a:pt x="3181350" y="1828800"/>
                    </a:lnTo>
                    <a:cubicBezTo>
                      <a:pt x="3181350" y="1944531"/>
                      <a:pt x="3087531" y="2038350"/>
                      <a:pt x="2971800" y="2038350"/>
                    </a:cubicBezTo>
                    <a:lnTo>
                      <a:pt x="209550" y="2038350"/>
                    </a:lnTo>
                    <a:cubicBezTo>
                      <a:pt x="93819" y="2038350"/>
                      <a:pt x="0" y="1944531"/>
                      <a:pt x="0" y="1828800"/>
                    </a:cubicBezTo>
                    <a:lnTo>
                      <a:pt x="0" y="209550"/>
                    </a:lnTo>
                    <a:cubicBezTo>
                      <a:pt x="0" y="93819"/>
                      <a:pt x="93819" y="0"/>
                      <a:pt x="2095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D6DDE8"/>
                </a:solidFill>
              </a:ln>
              <a:effectLst>
                <a:outerShdw blurRad="190500" dist="57150" dir="5400000" algn="ctr" rotWithShape="0">
                  <a:srgbClr val="5B6678">
                    <a:alpha val="13500"/>
                  </a:srgbClr>
                </a:outerShdw>
              </a:effectLst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8611791" y="4343400"/>
                <a:ext cx="283369" cy="303609"/>
                <a:chOff x="8611791" y="4343400"/>
                <a:chExt cx="283369" cy="303609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8652272" y="4343400"/>
                  <a:ext cx="202406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406" h="40481">
                      <a:moveTo>
                        <a:pt x="202406" y="0"/>
                      </a:moveTo>
                      <a:lnTo>
                        <a:pt x="0" y="0"/>
                      </a:lnTo>
                      <a:lnTo>
                        <a:pt x="0" y="40481"/>
                      </a:lnTo>
                      <a:lnTo>
                        <a:pt x="202406" y="40481"/>
                      </a:lnTo>
                      <a:lnTo>
                        <a:pt x="202406" y="0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8632031" y="4424362"/>
                  <a:ext cx="242888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40481">
                      <a:moveTo>
                        <a:pt x="0" y="0"/>
                      </a:moveTo>
                      <a:lnTo>
                        <a:pt x="242888" y="0"/>
                      </a:lnTo>
                      <a:lnTo>
                        <a:pt x="242888" y="40481"/>
                      </a:lnTo>
                      <a:lnTo>
                        <a:pt x="0" y="4048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8611791" y="4505325"/>
                  <a:ext cx="283369" cy="141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369" h="141684">
                      <a:moveTo>
                        <a:pt x="0" y="0"/>
                      </a:moveTo>
                      <a:lnTo>
                        <a:pt x="283369" y="0"/>
                      </a:lnTo>
                      <a:lnTo>
                        <a:pt x="283369" y="141684"/>
                      </a:lnTo>
                      <a:lnTo>
                        <a:pt x="0" y="14168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9046845" y="4393882"/>
                <a:ext cx="206616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2747"/>
                    </a:solidFill>
                    <a:latin typeface="Arial"/>
                    <a:ea typeface="Microsoft YaHei"/>
                    <a:cs typeface="Arial"/>
                  </a:rPr>
                  <a:t>可扩展的技术基座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574405" y="4864418"/>
                <a:ext cx="303123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后端插件体系与 Flutter 多端路线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574405" y="5131118"/>
                <a:ext cx="259746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让项目具备继续放大的空间。</a:t>
                </a:r>
              </a:p>
            </p:txBody>
          </p:sp>
        </p:grpSp>
      </p:grpSp>
      <p:sp>
        <p:nvSpPr>
          <p:cNvPr id="64" name="TextBox 64"/>
          <p:cNvSpPr txBox="1"/>
          <p:nvPr/>
        </p:nvSpPr>
        <p:spPr>
          <a:xfrm>
            <a:off x="502920" y="6446520"/>
            <a:ext cx="57867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3A3"/>
                </a:solidFill>
                <a:latin typeface="Arial"/>
                <a:ea typeface="Microsoft YaHei"/>
                <a:cs typeface="Arial"/>
              </a:rPr>
              <a:t>Source: README.md, docs/第一阶段功能总览.md, docs/Web端停用与Flutter多端迁移计划.md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14350" y="3810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0565" y="372428"/>
            <a:ext cx="63215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2747"/>
                </a:solidFill>
                <a:latin typeface="Arial"/>
                <a:ea typeface="Microsoft YaHei"/>
                <a:cs typeface="Arial"/>
              </a:rPr>
              <a:t>第一阶段已经打通四条关键业务链路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47977" y="5343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93A3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876300"/>
            <a:ext cx="11163300" cy="514350"/>
          </a:xfrm>
          <a:custGeom>
            <a:avLst/>
            <a:gdLst/>
            <a:ahLst/>
            <a:cxnLst/>
            <a:rect l="l" t="t" r="r" b="b"/>
            <a:pathLst>
              <a:path w="11163300" h="514350">
                <a:moveTo>
                  <a:pt x="152400" y="0"/>
                </a:moveTo>
                <a:lnTo>
                  <a:pt x="11010900" y="0"/>
                </a:lnTo>
                <a:cubicBezTo>
                  <a:pt x="11095068" y="0"/>
                  <a:pt x="11163300" y="68232"/>
                  <a:pt x="11163300" y="152400"/>
                </a:cubicBezTo>
                <a:lnTo>
                  <a:pt x="11163300" y="361950"/>
                </a:lnTo>
                <a:cubicBezTo>
                  <a:pt x="11163300" y="446118"/>
                  <a:pt x="11095068" y="514350"/>
                  <a:pt x="11010900" y="514350"/>
                </a:cubicBezTo>
                <a:lnTo>
                  <a:pt x="152400" y="514350"/>
                </a:lnTo>
                <a:cubicBezTo>
                  <a:pt x="68232" y="514350"/>
                  <a:pt x="0" y="446118"/>
                  <a:pt x="0" y="3619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E9EEF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1054418"/>
            <a:ext cx="77238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2433"/>
                </a:solidFill>
                <a:latin typeface="Arial"/>
                <a:ea typeface="Microsoft YaHei"/>
                <a:cs typeface="Arial"/>
              </a:rPr>
              <a:t>账号体系、阅读闭环、离线同步、后台与扫描能力都已形成可演示、可继续演进的基线。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14350" y="1733550"/>
            <a:ext cx="3241357" cy="2343150"/>
            <a:chOff x="514350" y="1733550"/>
            <a:chExt cx="3241357" cy="2343150"/>
          </a:xfrm>
        </p:grpSpPr>
        <p:sp>
          <p:nvSpPr>
            <p:cNvPr id="8" name="Freeform 8"/>
            <p:cNvSpPr/>
            <p:nvPr/>
          </p:nvSpPr>
          <p:spPr>
            <a:xfrm>
              <a:off x="514350" y="1733550"/>
              <a:ext cx="2590800" cy="2343150"/>
            </a:xfrm>
            <a:custGeom>
              <a:avLst/>
              <a:gdLst/>
              <a:ahLst/>
              <a:cxnLst/>
              <a:rect l="l" t="t" r="r" b="b"/>
              <a:pathLst>
                <a:path w="2590800" h="2343150">
                  <a:moveTo>
                    <a:pt x="209550" y="0"/>
                  </a:moveTo>
                  <a:lnTo>
                    <a:pt x="2381250" y="0"/>
                  </a:lnTo>
                  <a:cubicBezTo>
                    <a:pt x="2496981" y="0"/>
                    <a:pt x="2590800" y="93819"/>
                    <a:pt x="2590800" y="209550"/>
                  </a:cubicBezTo>
                  <a:lnTo>
                    <a:pt x="2590800" y="2133600"/>
                  </a:lnTo>
                  <a:cubicBezTo>
                    <a:pt x="2590800" y="2249331"/>
                    <a:pt x="2496981" y="2343150"/>
                    <a:pt x="2381250" y="2343150"/>
                  </a:cubicBezTo>
                  <a:lnTo>
                    <a:pt x="209550" y="2343150"/>
                  </a:lnTo>
                  <a:cubicBezTo>
                    <a:pt x="93819" y="2343150"/>
                    <a:pt x="0" y="2249331"/>
                    <a:pt x="0" y="21336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6DDE8"/>
              </a:solidFill>
            </a:ln>
            <a:effectLst>
              <a:outerShdw blurRad="190500" dist="57150" dir="5400000" algn="ctr" rotWithShape="0">
                <a:srgbClr val="5B6678">
                  <a:alpha val="12000"/>
                </a:srgbClr>
              </a:outerShdw>
            </a:effectLst>
          </p:spPr>
        </p:sp>
        <p:grpSp>
          <p:nvGrpSpPr>
            <p:cNvPr id="11" name="Group 11"/>
            <p:cNvGrpSpPr/>
            <p:nvPr/>
          </p:nvGrpSpPr>
          <p:grpSpPr>
            <a:xfrm>
              <a:off x="781050" y="2038350"/>
              <a:ext cx="342900" cy="342900"/>
              <a:chOff x="781050" y="2038350"/>
              <a:chExt cx="342900" cy="3429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66775" y="21240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85725" y="0"/>
                    </a:moveTo>
                    <a:cubicBezTo>
                      <a:pt x="38380" y="0"/>
                      <a:pt x="0" y="38380"/>
                      <a:pt x="0" y="85725"/>
                    </a:cubicBezTo>
                    <a:cubicBezTo>
                      <a:pt x="0" y="133069"/>
                      <a:pt x="38380" y="171450"/>
                      <a:pt x="85725" y="171450"/>
                    </a:cubicBezTo>
                    <a:cubicBezTo>
                      <a:pt x="133069" y="171450"/>
                      <a:pt x="171450" y="133069"/>
                      <a:pt x="171450" y="85725"/>
                    </a:cubicBezTo>
                    <a:cubicBezTo>
                      <a:pt x="171450" y="38380"/>
                      <a:pt x="133069" y="0"/>
                      <a:pt x="85725" y="0"/>
                    </a:cubicBezTo>
                    <a:close/>
                    <a:moveTo>
                      <a:pt x="42862" y="85725"/>
                    </a:moveTo>
                    <a:cubicBezTo>
                      <a:pt x="42862" y="62053"/>
                      <a:pt x="62053" y="42862"/>
                      <a:pt x="85725" y="42862"/>
                    </a:cubicBezTo>
                    <a:cubicBezTo>
                      <a:pt x="109397" y="42862"/>
                      <a:pt x="128588" y="62053"/>
                      <a:pt x="128588" y="85725"/>
                    </a:cubicBezTo>
                    <a:cubicBezTo>
                      <a:pt x="128588" y="109397"/>
                      <a:pt x="109397" y="128588"/>
                      <a:pt x="85725" y="128588"/>
                    </a:cubicBezTo>
                    <a:cubicBezTo>
                      <a:pt x="62053" y="128588"/>
                      <a:pt x="42862" y="109397"/>
                      <a:pt x="42862" y="85725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81050" y="203835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171450" y="0"/>
                    </a:moveTo>
                    <a:cubicBezTo>
                      <a:pt x="76761" y="0"/>
                      <a:pt x="0" y="76761"/>
                      <a:pt x="0" y="171450"/>
                    </a:cubicBezTo>
                    <a:cubicBezTo>
                      <a:pt x="0" y="266140"/>
                      <a:pt x="76761" y="342900"/>
                      <a:pt x="171450" y="342900"/>
                    </a:cubicBezTo>
                    <a:cubicBezTo>
                      <a:pt x="266140" y="342900"/>
                      <a:pt x="342900" y="266140"/>
                      <a:pt x="342900" y="171450"/>
                    </a:cubicBezTo>
                    <a:cubicBezTo>
                      <a:pt x="342900" y="76761"/>
                      <a:pt x="266140" y="0"/>
                      <a:pt x="171450" y="0"/>
                    </a:cubicBezTo>
                    <a:close/>
                    <a:moveTo>
                      <a:pt x="42862" y="171450"/>
                    </a:moveTo>
                    <a:cubicBezTo>
                      <a:pt x="42862" y="100433"/>
                      <a:pt x="100433" y="42862"/>
                      <a:pt x="171450" y="42862"/>
                    </a:cubicBezTo>
                    <a:cubicBezTo>
                      <a:pt x="242467" y="42862"/>
                      <a:pt x="300038" y="100433"/>
                      <a:pt x="300038" y="171450"/>
                    </a:cubicBezTo>
                    <a:cubicBezTo>
                      <a:pt x="300038" y="242467"/>
                      <a:pt x="242467" y="300038"/>
                      <a:pt x="171450" y="300038"/>
                    </a:cubicBezTo>
                    <a:cubicBezTo>
                      <a:pt x="100433" y="300038"/>
                      <a:pt x="42862" y="242467"/>
                      <a:pt x="42862" y="17145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742950" y="2381250"/>
              <a:ext cx="3292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2747"/>
                  </a:solidFill>
                  <a:latin typeface="Georgia"/>
                  <a:ea typeface="SimSun"/>
                  <a:cs typeface="Georgia"/>
                </a:rPr>
                <a:t>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8190" y="285369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关键业务链路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3905" y="324516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登录恢复、阅读闭环、同步基础、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3905" y="35118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管理与扫描导入已全部串起来。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352800" y="1733550"/>
            <a:ext cx="3044190" cy="2343150"/>
            <a:chOff x="3352800" y="1733550"/>
            <a:chExt cx="3044190" cy="2343150"/>
          </a:xfrm>
        </p:grpSpPr>
        <p:sp>
          <p:nvSpPr>
            <p:cNvPr id="17" name="Freeform 17"/>
            <p:cNvSpPr/>
            <p:nvPr/>
          </p:nvSpPr>
          <p:spPr>
            <a:xfrm>
              <a:off x="3352800" y="1733550"/>
              <a:ext cx="2590800" cy="2343150"/>
            </a:xfrm>
            <a:custGeom>
              <a:avLst/>
              <a:gdLst/>
              <a:ahLst/>
              <a:cxnLst/>
              <a:rect l="l" t="t" r="r" b="b"/>
              <a:pathLst>
                <a:path w="2590800" h="2343150">
                  <a:moveTo>
                    <a:pt x="209550" y="0"/>
                  </a:moveTo>
                  <a:lnTo>
                    <a:pt x="2381250" y="0"/>
                  </a:lnTo>
                  <a:cubicBezTo>
                    <a:pt x="2496981" y="0"/>
                    <a:pt x="2590800" y="93819"/>
                    <a:pt x="2590800" y="209550"/>
                  </a:cubicBezTo>
                  <a:lnTo>
                    <a:pt x="2590800" y="2133600"/>
                  </a:lnTo>
                  <a:cubicBezTo>
                    <a:pt x="2590800" y="2249331"/>
                    <a:pt x="2496981" y="2343150"/>
                    <a:pt x="2381250" y="2343150"/>
                  </a:cubicBezTo>
                  <a:lnTo>
                    <a:pt x="209550" y="2343150"/>
                  </a:lnTo>
                  <a:cubicBezTo>
                    <a:pt x="93819" y="2343150"/>
                    <a:pt x="0" y="2249331"/>
                    <a:pt x="0" y="21336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6DDE8"/>
              </a:solidFill>
            </a:ln>
            <a:effectLst>
              <a:outerShdw blurRad="190500" dist="57150" dir="5400000" algn="ctr" rotWithShape="0">
                <a:srgbClr val="5B6678">
                  <a:alpha val="12000"/>
                </a:srgbClr>
              </a:outerShdw>
            </a:effectLst>
          </p:spPr>
        </p:sp>
        <p:grpSp>
          <p:nvGrpSpPr>
            <p:cNvPr id="22" name="Group 22"/>
            <p:cNvGrpSpPr/>
            <p:nvPr/>
          </p:nvGrpSpPr>
          <p:grpSpPr>
            <a:xfrm>
              <a:off x="3619500" y="2059781"/>
              <a:ext cx="342900" cy="300038"/>
              <a:chOff x="3619500" y="2059781"/>
              <a:chExt cx="342900" cy="30003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3683794" y="2059781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3578"/>
                    </a:moveTo>
                    <a:cubicBezTo>
                      <a:pt x="107156" y="83168"/>
                      <a:pt x="83168" y="107156"/>
                      <a:pt x="53578" y="107156"/>
                    </a:cubicBezTo>
                    <a:cubicBezTo>
                      <a:pt x="23988" y="107156"/>
                      <a:pt x="0" y="83168"/>
                      <a:pt x="0" y="53578"/>
                    </a:cubicBezTo>
                    <a:cubicBezTo>
                      <a:pt x="0" y="23988"/>
                      <a:pt x="23988" y="0"/>
                      <a:pt x="53578" y="0"/>
                    </a:cubicBezTo>
                    <a:cubicBezTo>
                      <a:pt x="83168" y="0"/>
                      <a:pt x="107156" y="23988"/>
                      <a:pt x="107156" y="53578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619500" y="2209800"/>
                <a:ext cx="17145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0019">
                    <a:moveTo>
                      <a:pt x="64294" y="0"/>
                    </a:moveTo>
                    <a:cubicBezTo>
                      <a:pt x="28785" y="0"/>
                      <a:pt x="0" y="28785"/>
                      <a:pt x="0" y="64294"/>
                    </a:cubicBezTo>
                    <a:lnTo>
                      <a:pt x="0" y="150019"/>
                    </a:lnTo>
                    <a:lnTo>
                      <a:pt x="171450" y="150019"/>
                    </a:lnTo>
                    <a:lnTo>
                      <a:pt x="171450" y="0"/>
                    </a:lnTo>
                    <a:lnTo>
                      <a:pt x="64294" y="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833812" y="2209800"/>
                <a:ext cx="1285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50019">
                    <a:moveTo>
                      <a:pt x="64294" y="0"/>
                    </a:moveTo>
                    <a:lnTo>
                      <a:pt x="0" y="0"/>
                    </a:lnTo>
                    <a:lnTo>
                      <a:pt x="0" y="150019"/>
                    </a:lnTo>
                    <a:lnTo>
                      <a:pt x="128588" y="150019"/>
                    </a:lnTo>
                    <a:lnTo>
                      <a:pt x="128588" y="64294"/>
                    </a:lnTo>
                    <a:cubicBezTo>
                      <a:pt x="128588" y="28785"/>
                      <a:pt x="99803" y="0"/>
                      <a:pt x="64294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833812" y="20812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42862" y="85725"/>
                    </a:move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  <a:cubicBezTo>
                      <a:pt x="0" y="66535"/>
                      <a:pt x="19190" y="85725"/>
                      <a:pt x="42862" y="85725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3581400" y="2381250"/>
              <a:ext cx="3292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2747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96640" y="285369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系统角色体系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02355" y="32451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普通用户、管理员、超级管理员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02355" y="35118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形成清晰的权限与治理分层。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191250" y="1733550"/>
            <a:ext cx="3438525" cy="2343150"/>
            <a:chOff x="6191250" y="1733550"/>
            <a:chExt cx="3438525" cy="2343150"/>
          </a:xfrm>
        </p:grpSpPr>
        <p:sp>
          <p:nvSpPr>
            <p:cNvPr id="28" name="Freeform 28"/>
            <p:cNvSpPr/>
            <p:nvPr/>
          </p:nvSpPr>
          <p:spPr>
            <a:xfrm>
              <a:off x="6191250" y="1733550"/>
              <a:ext cx="2590800" cy="2343150"/>
            </a:xfrm>
            <a:custGeom>
              <a:avLst/>
              <a:gdLst/>
              <a:ahLst/>
              <a:cxnLst/>
              <a:rect l="l" t="t" r="r" b="b"/>
              <a:pathLst>
                <a:path w="2590800" h="2343150">
                  <a:moveTo>
                    <a:pt x="209550" y="0"/>
                  </a:moveTo>
                  <a:lnTo>
                    <a:pt x="2381250" y="0"/>
                  </a:lnTo>
                  <a:cubicBezTo>
                    <a:pt x="2496981" y="0"/>
                    <a:pt x="2590800" y="93819"/>
                    <a:pt x="2590800" y="209550"/>
                  </a:cubicBezTo>
                  <a:lnTo>
                    <a:pt x="2590800" y="2133600"/>
                  </a:lnTo>
                  <a:cubicBezTo>
                    <a:pt x="2590800" y="2249331"/>
                    <a:pt x="2496981" y="2343150"/>
                    <a:pt x="2381250" y="2343150"/>
                  </a:cubicBezTo>
                  <a:lnTo>
                    <a:pt x="209550" y="2343150"/>
                  </a:lnTo>
                  <a:cubicBezTo>
                    <a:pt x="93819" y="2343150"/>
                    <a:pt x="0" y="2249331"/>
                    <a:pt x="0" y="21336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6DDE8"/>
              </a:solidFill>
            </a:ln>
            <a:effectLst>
              <a:outerShdw blurRad="190500" dist="57150" dir="5400000" algn="ctr" rotWithShape="0">
                <a:srgbClr val="5B6678">
                  <a:alpha val="12000"/>
                </a:srgbClr>
              </a:outerShdw>
            </a:effectLst>
          </p:spPr>
        </p:sp>
        <p:sp>
          <p:nvSpPr>
            <p:cNvPr id="29" name="Freeform 29"/>
            <p:cNvSpPr/>
            <p:nvPr/>
          </p:nvSpPr>
          <p:spPr>
            <a:xfrm>
              <a:off x="6457950" y="2059781"/>
              <a:ext cx="342900" cy="278606"/>
            </a:xfrm>
            <a:custGeom>
              <a:avLst/>
              <a:gdLst/>
              <a:ahLst/>
              <a:cxnLst/>
              <a:rect l="l" t="t" r="r" b="b"/>
              <a:pathLst>
                <a:path w="342900" h="278606">
                  <a:moveTo>
                    <a:pt x="0" y="0"/>
                  </a:moveTo>
                  <a:lnTo>
                    <a:pt x="107156" y="0"/>
                  </a:lnTo>
                  <a:lnTo>
                    <a:pt x="171450" y="42862"/>
                  </a:lnTo>
                  <a:lnTo>
                    <a:pt x="278606" y="42862"/>
                  </a:lnTo>
                  <a:lnTo>
                    <a:pt x="278606" y="85725"/>
                  </a:lnTo>
                  <a:lnTo>
                    <a:pt x="80275" y="85725"/>
                  </a:lnTo>
                  <a:lnTo>
                    <a:pt x="43536" y="214312"/>
                  </a:lnTo>
                  <a:lnTo>
                    <a:pt x="88113" y="214312"/>
                  </a:lnTo>
                  <a:lnTo>
                    <a:pt x="112606" y="128588"/>
                  </a:lnTo>
                  <a:lnTo>
                    <a:pt x="342900" y="128588"/>
                  </a:lnTo>
                  <a:lnTo>
                    <a:pt x="300038" y="278606"/>
                  </a:lnTo>
                  <a:lnTo>
                    <a:pt x="0" y="2786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9850" y="2381250"/>
              <a:ext cx="3292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2747"/>
                  </a:solidFill>
                  <a:latin typeface="Georgia"/>
                  <a:ea typeface="SimSun"/>
                  <a:cs typeface="Georgia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5090" y="285369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后台核心分区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40805" y="3245168"/>
              <a:ext cx="3188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用户、角色、书籍、批注、资源扫描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40805" y="35118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让管理端具备实际运营价值。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029700" y="1733550"/>
            <a:ext cx="3201924" cy="2343150"/>
            <a:chOff x="9029700" y="1733550"/>
            <a:chExt cx="3201924" cy="2343150"/>
          </a:xfrm>
        </p:grpSpPr>
        <p:sp>
          <p:nvSpPr>
            <p:cNvPr id="35" name="Freeform 35"/>
            <p:cNvSpPr/>
            <p:nvPr/>
          </p:nvSpPr>
          <p:spPr>
            <a:xfrm>
              <a:off x="9029700" y="1733550"/>
              <a:ext cx="2590800" cy="2343150"/>
            </a:xfrm>
            <a:custGeom>
              <a:avLst/>
              <a:gdLst/>
              <a:ahLst/>
              <a:cxnLst/>
              <a:rect l="l" t="t" r="r" b="b"/>
              <a:pathLst>
                <a:path w="2590800" h="2343150">
                  <a:moveTo>
                    <a:pt x="209550" y="0"/>
                  </a:moveTo>
                  <a:lnTo>
                    <a:pt x="2381250" y="0"/>
                  </a:lnTo>
                  <a:cubicBezTo>
                    <a:pt x="2496981" y="0"/>
                    <a:pt x="2590800" y="93819"/>
                    <a:pt x="2590800" y="209550"/>
                  </a:cubicBezTo>
                  <a:lnTo>
                    <a:pt x="2590800" y="2133600"/>
                  </a:lnTo>
                  <a:cubicBezTo>
                    <a:pt x="2590800" y="2249331"/>
                    <a:pt x="2496981" y="2343150"/>
                    <a:pt x="2381250" y="2343150"/>
                  </a:cubicBezTo>
                  <a:lnTo>
                    <a:pt x="209550" y="2343150"/>
                  </a:lnTo>
                  <a:cubicBezTo>
                    <a:pt x="93819" y="2343150"/>
                    <a:pt x="0" y="2249331"/>
                    <a:pt x="0" y="21336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6DDE8"/>
              </a:solidFill>
            </a:ln>
            <a:effectLst>
              <a:outerShdw blurRad="190500" dist="57150" dir="5400000" algn="ctr" rotWithShape="0">
                <a:srgbClr val="5B6678">
                  <a:alpha val="12000"/>
                </a:srgbClr>
              </a:outerShdw>
            </a:effectLst>
          </p:spPr>
        </p:sp>
        <p:grpSp>
          <p:nvGrpSpPr>
            <p:cNvPr id="39" name="Group 39"/>
            <p:cNvGrpSpPr/>
            <p:nvPr/>
          </p:nvGrpSpPr>
          <p:grpSpPr>
            <a:xfrm>
              <a:off x="9317831" y="2038350"/>
              <a:ext cx="300038" cy="321469"/>
              <a:chOff x="9317831" y="2038350"/>
              <a:chExt cx="300038" cy="32146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9360694" y="2038350"/>
                <a:ext cx="21431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42862">
                    <a:moveTo>
                      <a:pt x="214312" y="0"/>
                    </a:moveTo>
                    <a:lnTo>
                      <a:pt x="0" y="0"/>
                    </a:lnTo>
                    <a:lnTo>
                      <a:pt x="0" y="42862"/>
                    </a:lnTo>
                    <a:lnTo>
                      <a:pt x="214312" y="42862"/>
                    </a:lnTo>
                    <a:lnTo>
                      <a:pt x="214312" y="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339262" y="2124075"/>
                <a:ext cx="25717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42862">
                    <a:moveTo>
                      <a:pt x="0" y="0"/>
                    </a:moveTo>
                    <a:lnTo>
                      <a:pt x="257175" y="0"/>
                    </a:lnTo>
                    <a:lnTo>
                      <a:pt x="257175" y="42862"/>
                    </a:lnTo>
                    <a:lnTo>
                      <a:pt x="0" y="428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317831" y="2209800"/>
                <a:ext cx="30003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50019">
                    <a:moveTo>
                      <a:pt x="0" y="0"/>
                    </a:moveTo>
                    <a:lnTo>
                      <a:pt x="300038" y="0"/>
                    </a:lnTo>
                    <a:lnTo>
                      <a:pt x="300038" y="150019"/>
                    </a:lnTo>
                    <a:lnTo>
                      <a:pt x="0" y="1500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9258300" y="2381250"/>
              <a:ext cx="3292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2747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73540" y="2853690"/>
              <a:ext cx="19779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已集成格式插件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79255" y="3245168"/>
              <a:ext cx="29523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TXT、EPUB、PDF 已纳入统一处理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79255" y="35118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并采用编译期集成方式扩展。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14350" y="4438650"/>
            <a:ext cx="11163300" cy="1619250"/>
            <a:chOff x="514350" y="4438650"/>
            <a:chExt cx="11163300" cy="1619250"/>
          </a:xfrm>
        </p:grpSpPr>
        <p:sp>
          <p:nvSpPr>
            <p:cNvPr id="45" name="Freeform 45"/>
            <p:cNvSpPr/>
            <p:nvPr/>
          </p:nvSpPr>
          <p:spPr>
            <a:xfrm>
              <a:off x="514350" y="4438650"/>
              <a:ext cx="11163300" cy="1619250"/>
            </a:xfrm>
            <a:custGeom>
              <a:avLst/>
              <a:gdLst/>
              <a:ahLst/>
              <a:cxnLst/>
              <a:rect l="l" t="t" r="r" b="b"/>
              <a:pathLst>
                <a:path w="11163300" h="1619250">
                  <a:moveTo>
                    <a:pt x="247650" y="0"/>
                  </a:moveTo>
                  <a:lnTo>
                    <a:pt x="10915650" y="0"/>
                  </a:lnTo>
                  <a:cubicBezTo>
                    <a:pt x="11052423" y="0"/>
                    <a:pt x="11163300" y="110877"/>
                    <a:pt x="11163300" y="247650"/>
                  </a:cubicBezTo>
                  <a:lnTo>
                    <a:pt x="11163300" y="1371600"/>
                  </a:lnTo>
                  <a:cubicBezTo>
                    <a:pt x="11163300" y="1508373"/>
                    <a:pt x="11052423" y="1619250"/>
                    <a:pt x="10915650" y="1619250"/>
                  </a:cubicBezTo>
                  <a:lnTo>
                    <a:pt x="247650" y="1619250"/>
                  </a:lnTo>
                  <a:cubicBezTo>
                    <a:pt x="110877" y="1619250"/>
                    <a:pt x="0" y="1508373"/>
                    <a:pt x="0" y="1371600"/>
                  </a:cubicBezTo>
                  <a:lnTo>
                    <a:pt x="0" y="247650"/>
                  </a:lnTo>
                  <a:cubicBezTo>
                    <a:pt x="0" y="110877"/>
                    <a:pt x="110877" y="0"/>
                    <a:pt x="247650" y="0"/>
                  </a:cubicBezTo>
                  <a:close/>
                </a:path>
              </a:pathLst>
            </a:custGeom>
            <a:solidFill>
              <a:srgbClr val="0F274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5340" y="4758690"/>
              <a:ext cx="92652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从能力结构上看，项目已经形成“读者端 + 管理端 + 导入端”的完整产品面。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838200" y="5257800"/>
              <a:ext cx="1638300" cy="381000"/>
            </a:xfrm>
            <a:custGeom>
              <a:avLst/>
              <a:gdLst/>
              <a:ahLst/>
              <a:cxnLst/>
              <a:rect l="l" t="t" r="r" b="b"/>
              <a:pathLst>
                <a:path w="1638300" h="381000">
                  <a:moveTo>
                    <a:pt x="190500" y="0"/>
                  </a:moveTo>
                  <a:lnTo>
                    <a:pt x="1447800" y="0"/>
                  </a:lnTo>
                  <a:cubicBezTo>
                    <a:pt x="1553010" y="0"/>
                    <a:pt x="1638300" y="85290"/>
                    <a:pt x="1638300" y="190500"/>
                  </a:cubicBezTo>
                  <a:lnTo>
                    <a:pt x="1638300" y="190500"/>
                  </a:lnTo>
                  <a:cubicBezTo>
                    <a:pt x="1638300" y="295710"/>
                    <a:pt x="1553010" y="381000"/>
                    <a:pt x="14478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52346" y="53678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读者端闭环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2628900" y="5257800"/>
              <a:ext cx="1638300" cy="381000"/>
            </a:xfrm>
            <a:custGeom>
              <a:avLst/>
              <a:gdLst/>
              <a:ahLst/>
              <a:cxnLst/>
              <a:rect l="l" t="t" r="r" b="b"/>
              <a:pathLst>
                <a:path w="1638300" h="381000">
                  <a:moveTo>
                    <a:pt x="190500" y="0"/>
                  </a:moveTo>
                  <a:lnTo>
                    <a:pt x="1447800" y="0"/>
                  </a:lnTo>
                  <a:cubicBezTo>
                    <a:pt x="1553010" y="0"/>
                    <a:pt x="1638300" y="85290"/>
                    <a:pt x="1638300" y="190500"/>
                  </a:cubicBezTo>
                  <a:lnTo>
                    <a:pt x="1638300" y="190500"/>
                  </a:lnTo>
                  <a:cubicBezTo>
                    <a:pt x="1638300" y="295710"/>
                    <a:pt x="1553010" y="381000"/>
                    <a:pt x="14478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845284" y="53678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离线同步底座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4419600" y="5257800"/>
              <a:ext cx="1638300" cy="381000"/>
            </a:xfrm>
            <a:custGeom>
              <a:avLst/>
              <a:gdLst/>
              <a:ahLst/>
              <a:cxnLst/>
              <a:rect l="l" t="t" r="r" b="b"/>
              <a:pathLst>
                <a:path w="1638300" h="381000">
                  <a:moveTo>
                    <a:pt x="190500" y="0"/>
                  </a:moveTo>
                  <a:lnTo>
                    <a:pt x="1447800" y="0"/>
                  </a:lnTo>
                  <a:cubicBezTo>
                    <a:pt x="1553010" y="0"/>
                    <a:pt x="1638300" y="85290"/>
                    <a:pt x="1638300" y="190500"/>
                  </a:cubicBezTo>
                  <a:lnTo>
                    <a:pt x="1638300" y="190500"/>
                  </a:lnTo>
                  <a:cubicBezTo>
                    <a:pt x="1638300" y="295710"/>
                    <a:pt x="1553010" y="381000"/>
                    <a:pt x="14478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635984" y="53678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后台治理能力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210300" y="5257800"/>
              <a:ext cx="1638300" cy="381000"/>
            </a:xfrm>
            <a:custGeom>
              <a:avLst/>
              <a:gdLst/>
              <a:ahLst/>
              <a:cxnLst/>
              <a:rect l="l" t="t" r="r" b="b"/>
              <a:pathLst>
                <a:path w="1638300" h="381000">
                  <a:moveTo>
                    <a:pt x="190500" y="0"/>
                  </a:moveTo>
                  <a:lnTo>
                    <a:pt x="1447800" y="0"/>
                  </a:lnTo>
                  <a:cubicBezTo>
                    <a:pt x="1553010" y="0"/>
                    <a:pt x="1638300" y="85290"/>
                    <a:pt x="1638300" y="190500"/>
                  </a:cubicBezTo>
                  <a:lnTo>
                    <a:pt x="1638300" y="190500"/>
                  </a:lnTo>
                  <a:cubicBezTo>
                    <a:pt x="1638300" y="295710"/>
                    <a:pt x="1553010" y="381000"/>
                    <a:pt x="14478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2FA3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26684" y="53678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资源扫描入库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11340" y="5394960"/>
              <a:ext cx="3009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DCE7F5"/>
                  </a:solidFill>
                  <a:latin typeface="Arial"/>
                  <a:ea typeface="Microsoft YaHei"/>
                  <a:cs typeface="Arial"/>
                </a:rPr>
                <a:t>阶段一目标：先跑通，再稳定，再扩展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502920" y="6446520"/>
            <a:ext cx="57604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3A3"/>
                </a:solidFill>
                <a:latin typeface="Arial"/>
                <a:ea typeface="Microsoft YaHei"/>
                <a:cs typeface="Arial"/>
              </a:rPr>
              <a:t>Source: docs/第一阶段功能总览.md, docs/第一阶段详细功能文档.md, docs/后端架构文档.md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848850" y="-114300"/>
            <a:ext cx="2476500" cy="2476500"/>
          </a:xfrm>
          <a:prstGeom prst="ellipse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514350" y="3810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10565" y="372428"/>
            <a:ext cx="939128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2747"/>
                </a:solidFill>
                <a:latin typeface="Arial"/>
                <a:ea typeface="Microsoft YaHei"/>
                <a:cs typeface="Arial"/>
              </a:rPr>
              <a:t>Flutter App 已具备真实可感知的阅读体验与管理入口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47977" y="5343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93A3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7" name="Freeform 7"/>
          <p:cNvSpPr/>
          <p:nvPr/>
        </p:nvSpPr>
        <p:spPr>
          <a:xfrm>
            <a:off x="514350" y="876300"/>
            <a:ext cx="11163300" cy="514350"/>
          </a:xfrm>
          <a:custGeom>
            <a:avLst/>
            <a:gdLst/>
            <a:ahLst/>
            <a:cxnLst/>
            <a:rect l="l" t="t" r="r" b="b"/>
            <a:pathLst>
              <a:path w="11163300" h="514350">
                <a:moveTo>
                  <a:pt x="152400" y="0"/>
                </a:moveTo>
                <a:lnTo>
                  <a:pt x="11010900" y="0"/>
                </a:lnTo>
                <a:cubicBezTo>
                  <a:pt x="11095068" y="0"/>
                  <a:pt x="11163300" y="68232"/>
                  <a:pt x="11163300" y="152400"/>
                </a:cubicBezTo>
                <a:lnTo>
                  <a:pt x="11163300" y="361950"/>
                </a:lnTo>
                <a:cubicBezTo>
                  <a:pt x="11163300" y="446118"/>
                  <a:pt x="11095068" y="514350"/>
                  <a:pt x="11010900" y="514350"/>
                </a:cubicBezTo>
                <a:lnTo>
                  <a:pt x="152400" y="514350"/>
                </a:lnTo>
                <a:cubicBezTo>
                  <a:pt x="68232" y="514350"/>
                  <a:pt x="0" y="446118"/>
                  <a:pt x="0" y="3619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E9EE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25805" y="1054418"/>
            <a:ext cx="77238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2433"/>
                </a:solidFill>
                <a:latin typeface="Arial"/>
                <a:ea typeface="Microsoft YaHei"/>
                <a:cs typeface="Arial"/>
              </a:rPr>
              <a:t>从登录、书架到阅读器与后台入口，产品体验已经形成连续路径，而不是零散页面集合。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72440" y="1891665"/>
            <a:ext cx="6195060" cy="4337685"/>
            <a:chOff x="472440" y="1891665"/>
            <a:chExt cx="6195060" cy="4337685"/>
          </a:xfrm>
        </p:grpSpPr>
        <p:sp>
          <p:nvSpPr>
            <p:cNvPr id="9" name="TextBox 9"/>
            <p:cNvSpPr txBox="1"/>
            <p:nvPr/>
          </p:nvSpPr>
          <p:spPr>
            <a:xfrm>
              <a:off x="472440" y="1891665"/>
              <a:ext cx="4840815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F2747"/>
                  </a:solidFill>
                  <a:latin typeface="Georgia"/>
                  <a:ea typeface="SimSun"/>
                  <a:cs typeface="Georgia"/>
                </a:rPr>
                <a:t>A Real Product Flow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1490" y="2510790"/>
              <a:ext cx="5897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体验重点不只是“能看书”，而是“能持续使用”。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5300" y="3057525"/>
              <a:ext cx="6172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登录、书架、阅读器、设置、批注、后台入口已形成稳定骨架，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5300" y="3362325"/>
              <a:ext cx="44634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并且手机与平板共享一套 Flutter 代码基线。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514350" y="4095750"/>
              <a:ext cx="2019300" cy="419100"/>
            </a:xfrm>
            <a:custGeom>
              <a:avLst/>
              <a:gdLst/>
              <a:ahLst/>
              <a:cxnLst/>
              <a:rect l="l" t="t" r="r" b="b"/>
              <a:pathLst>
                <a:path w="2019300" h="419100">
                  <a:moveTo>
                    <a:pt x="209550" y="0"/>
                  </a:moveTo>
                  <a:lnTo>
                    <a:pt x="1809750" y="0"/>
                  </a:lnTo>
                  <a:cubicBezTo>
                    <a:pt x="1925481" y="0"/>
                    <a:pt x="2019300" y="93819"/>
                    <a:pt x="2019300" y="209550"/>
                  </a:cubicBezTo>
                  <a:lnTo>
                    <a:pt x="2019300" y="209550"/>
                  </a:lnTo>
                  <a:cubicBezTo>
                    <a:pt x="2019300" y="325281"/>
                    <a:pt x="1925481" y="419100"/>
                    <a:pt x="1809750" y="419100"/>
                  </a:cubicBezTo>
                  <a:lnTo>
                    <a:pt x="209550" y="419100"/>
                  </a:lnTo>
                  <a:cubicBezTo>
                    <a:pt x="93819" y="419100"/>
                    <a:pt x="0" y="325281"/>
                    <a:pt x="0" y="2095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2264" y="421671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登录与会话恢复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14350" y="4667250"/>
              <a:ext cx="2324100" cy="419100"/>
            </a:xfrm>
            <a:custGeom>
              <a:avLst/>
              <a:gdLst/>
              <a:ahLst/>
              <a:cxnLst/>
              <a:rect l="l" t="t" r="r" b="b"/>
              <a:pathLst>
                <a:path w="2324100" h="419100">
                  <a:moveTo>
                    <a:pt x="209550" y="0"/>
                  </a:moveTo>
                  <a:lnTo>
                    <a:pt x="2114550" y="0"/>
                  </a:lnTo>
                  <a:cubicBezTo>
                    <a:pt x="2230281" y="0"/>
                    <a:pt x="2324100" y="93819"/>
                    <a:pt x="2324100" y="209550"/>
                  </a:cubicBezTo>
                  <a:lnTo>
                    <a:pt x="2324100" y="209550"/>
                  </a:lnTo>
                  <a:cubicBezTo>
                    <a:pt x="2324100" y="325281"/>
                    <a:pt x="2230281" y="419100"/>
                    <a:pt x="2114550" y="419100"/>
                  </a:cubicBezTo>
                  <a:lnTo>
                    <a:pt x="209550" y="419100"/>
                  </a:lnTo>
                  <a:cubicBezTo>
                    <a:pt x="93819" y="419100"/>
                    <a:pt x="0" y="325281"/>
                    <a:pt x="0" y="2095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4126" y="4788218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书架到阅读器完整闭环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14350" y="5238750"/>
              <a:ext cx="2209800" cy="419100"/>
            </a:xfrm>
            <a:custGeom>
              <a:avLst/>
              <a:gdLst/>
              <a:ahLst/>
              <a:cxnLst/>
              <a:rect l="l" t="t" r="r" b="b"/>
              <a:pathLst>
                <a:path w="2209800" h="419100">
                  <a:moveTo>
                    <a:pt x="209550" y="0"/>
                  </a:moveTo>
                  <a:lnTo>
                    <a:pt x="2000250" y="0"/>
                  </a:lnTo>
                  <a:cubicBezTo>
                    <a:pt x="2115981" y="0"/>
                    <a:pt x="2209800" y="93819"/>
                    <a:pt x="2209800" y="209550"/>
                  </a:cubicBezTo>
                  <a:lnTo>
                    <a:pt x="2209800" y="209550"/>
                  </a:lnTo>
                  <a:cubicBezTo>
                    <a:pt x="2209800" y="325281"/>
                    <a:pt x="2115981" y="419100"/>
                    <a:pt x="2000250" y="419100"/>
                  </a:cubicBezTo>
                  <a:lnTo>
                    <a:pt x="209550" y="419100"/>
                  </a:lnTo>
                  <a:cubicBezTo>
                    <a:pt x="93819" y="419100"/>
                    <a:pt x="0" y="325281"/>
                    <a:pt x="0" y="2095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4002" y="535971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浮层式阅读器交互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14350" y="5810250"/>
              <a:ext cx="2095500" cy="419100"/>
            </a:xfrm>
            <a:custGeom>
              <a:avLst/>
              <a:gdLst/>
              <a:ahLst/>
              <a:cxnLst/>
              <a:rect l="l" t="t" r="r" b="b"/>
              <a:pathLst>
                <a:path w="2095500" h="419100">
                  <a:moveTo>
                    <a:pt x="209550" y="0"/>
                  </a:moveTo>
                  <a:lnTo>
                    <a:pt x="1885950" y="0"/>
                  </a:lnTo>
                  <a:cubicBezTo>
                    <a:pt x="2001681" y="0"/>
                    <a:pt x="2095500" y="93819"/>
                    <a:pt x="2095500" y="209550"/>
                  </a:cubicBezTo>
                  <a:lnTo>
                    <a:pt x="2095500" y="209550"/>
                  </a:lnTo>
                  <a:cubicBezTo>
                    <a:pt x="2095500" y="325281"/>
                    <a:pt x="2001681" y="419100"/>
                    <a:pt x="1885950" y="419100"/>
                  </a:cubicBezTo>
                  <a:lnTo>
                    <a:pt x="209550" y="419100"/>
                  </a:lnTo>
                  <a:cubicBezTo>
                    <a:pt x="93819" y="419100"/>
                    <a:pt x="0" y="325281"/>
                    <a:pt x="0" y="2095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2FA39A">
                <a:alpha val="16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6852" y="593121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多主题与设置能力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0" y="1047750"/>
            <a:ext cx="5962650" cy="5105400"/>
            <a:chOff x="5715000" y="1047750"/>
            <a:chExt cx="5962650" cy="5105400"/>
          </a:xfrm>
        </p:grpSpPr>
        <p:sp>
          <p:nvSpPr>
            <p:cNvPr id="22" name="Freeform 22"/>
            <p:cNvSpPr/>
            <p:nvPr/>
          </p:nvSpPr>
          <p:spPr>
            <a:xfrm>
              <a:off x="5715000" y="1047750"/>
              <a:ext cx="5962650" cy="5105400"/>
            </a:xfrm>
            <a:custGeom>
              <a:avLst/>
              <a:gdLst/>
              <a:ahLst/>
              <a:cxnLst/>
              <a:rect l="l" t="t" r="r" b="b"/>
              <a:pathLst>
                <a:path w="5962650" h="5105400">
                  <a:moveTo>
                    <a:pt x="304800" y="0"/>
                  </a:moveTo>
                  <a:lnTo>
                    <a:pt x="5657850" y="0"/>
                  </a:lnTo>
                  <a:cubicBezTo>
                    <a:pt x="5826186" y="0"/>
                    <a:pt x="5962650" y="136464"/>
                    <a:pt x="5962650" y="304800"/>
                  </a:cubicBezTo>
                  <a:lnTo>
                    <a:pt x="5962650" y="4800600"/>
                  </a:lnTo>
                  <a:cubicBezTo>
                    <a:pt x="5962650" y="4968936"/>
                    <a:pt x="5826186" y="5105400"/>
                    <a:pt x="5657850" y="5105400"/>
                  </a:cubicBezTo>
                  <a:lnTo>
                    <a:pt x="304800" y="5105400"/>
                  </a:lnTo>
                  <a:cubicBezTo>
                    <a:pt x="136464" y="5105400"/>
                    <a:pt x="0" y="4968936"/>
                    <a:pt x="0" y="48006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6DDE8"/>
              </a:solidFill>
            </a:ln>
            <a:effectLst>
              <a:outerShdw blurRad="228600" dist="76200" dir="5400000" algn="ctr" rotWithShape="0">
                <a:srgbClr val="5B6678">
                  <a:alpha val="13500"/>
                </a:srgbClr>
              </a:outerShdw>
            </a:effectLst>
          </p:spPr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57950" y="1728788"/>
              <a:ext cx="3771900" cy="1648778"/>
            </a:xfrm>
            <a:custGeom>
              <a:avLst/>
              <a:gdLst/>
              <a:ahLst/>
              <a:cxnLst/>
              <a:rect l="l" t="t" r="r" b="b"/>
              <a:pathLst>
                <a:path w="3771900" h="1648778">
                  <a:moveTo>
                    <a:pt x="247650" y="-376238"/>
                  </a:moveTo>
                  <a:lnTo>
                    <a:pt x="3524250" y="-376238"/>
                  </a:lnTo>
                  <a:cubicBezTo>
                    <a:pt x="3661023" y="-376238"/>
                    <a:pt x="3771900" y="-265361"/>
                    <a:pt x="3771900" y="-128588"/>
                  </a:cubicBezTo>
                  <a:lnTo>
                    <a:pt x="3771900" y="1776412"/>
                  </a:lnTo>
                  <a:cubicBezTo>
                    <a:pt x="3771900" y="1913186"/>
                    <a:pt x="3661023" y="2024062"/>
                    <a:pt x="3524250" y="2024062"/>
                  </a:cubicBezTo>
                  <a:lnTo>
                    <a:pt x="247650" y="2024062"/>
                  </a:lnTo>
                  <a:cubicBezTo>
                    <a:pt x="110877" y="2024062"/>
                    <a:pt x="0" y="1913186"/>
                    <a:pt x="0" y="1776412"/>
                  </a:cubicBezTo>
                  <a:lnTo>
                    <a:pt x="0" y="-128588"/>
                  </a:lnTo>
                  <a:cubicBezTo>
                    <a:pt x="0" y="-265361"/>
                    <a:pt x="110877" y="-376238"/>
                    <a:pt x="247650" y="-376238"/>
                  </a:cubicBezTo>
                  <a:close/>
                </a:path>
              </a:pathLst>
            </a:custGeom>
          </p:spPr>
        </p:pic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0" y="1200150"/>
              <a:ext cx="876300" cy="2305050"/>
            </a:xfrm>
            <a:custGeom>
              <a:avLst/>
              <a:gdLst/>
              <a:ahLst/>
              <a:cxnLst/>
              <a:rect l="l" t="t" r="r" b="b"/>
              <a:pathLst>
                <a:path w="876300" h="2305050">
                  <a:moveTo>
                    <a:pt x="228600" y="0"/>
                  </a:moveTo>
                  <a:lnTo>
                    <a:pt x="647700" y="0"/>
                  </a:lnTo>
                  <a:cubicBezTo>
                    <a:pt x="773952" y="0"/>
                    <a:pt x="876300" y="102348"/>
                    <a:pt x="876300" y="228600"/>
                  </a:cubicBezTo>
                  <a:lnTo>
                    <a:pt x="876300" y="2076450"/>
                  </a:lnTo>
                  <a:cubicBezTo>
                    <a:pt x="876300" y="2202702"/>
                    <a:pt x="773952" y="2305050"/>
                    <a:pt x="647700" y="2305050"/>
                  </a:cubicBezTo>
                  <a:lnTo>
                    <a:pt x="228600" y="2305050"/>
                  </a:lnTo>
                  <a:cubicBezTo>
                    <a:pt x="102348" y="2305050"/>
                    <a:pt x="0" y="2202702"/>
                    <a:pt x="0" y="207645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</p:spPr>
        </p:pic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96550" y="1200150"/>
              <a:ext cx="876300" cy="2305050"/>
            </a:xfrm>
            <a:custGeom>
              <a:avLst/>
              <a:gdLst/>
              <a:ahLst/>
              <a:cxnLst/>
              <a:rect l="l" t="t" r="r" b="b"/>
              <a:pathLst>
                <a:path w="876300" h="2305050">
                  <a:moveTo>
                    <a:pt x="228600" y="0"/>
                  </a:moveTo>
                  <a:lnTo>
                    <a:pt x="647700" y="0"/>
                  </a:lnTo>
                  <a:cubicBezTo>
                    <a:pt x="773952" y="0"/>
                    <a:pt x="876300" y="102348"/>
                    <a:pt x="876300" y="228600"/>
                  </a:cubicBezTo>
                  <a:lnTo>
                    <a:pt x="876300" y="2076450"/>
                  </a:lnTo>
                  <a:cubicBezTo>
                    <a:pt x="876300" y="2202702"/>
                    <a:pt x="773952" y="2305050"/>
                    <a:pt x="647700" y="2305050"/>
                  </a:cubicBezTo>
                  <a:lnTo>
                    <a:pt x="228600" y="2305050"/>
                  </a:lnTo>
                  <a:cubicBezTo>
                    <a:pt x="102348" y="2305050"/>
                    <a:pt x="0" y="2202702"/>
                    <a:pt x="0" y="207645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</p:spPr>
        </p:pic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86550" y="4095750"/>
              <a:ext cx="1390650" cy="1657350"/>
            </a:xfrm>
            <a:custGeom>
              <a:avLst/>
              <a:gdLst/>
              <a:ahLst/>
              <a:cxnLst/>
              <a:rect l="l" t="t" r="r" b="b"/>
              <a:pathLst>
                <a:path w="1390650" h="1657350">
                  <a:moveTo>
                    <a:pt x="209550" y="0"/>
                  </a:moveTo>
                  <a:lnTo>
                    <a:pt x="1181100" y="0"/>
                  </a:lnTo>
                  <a:cubicBezTo>
                    <a:pt x="1296831" y="0"/>
                    <a:pt x="1390650" y="93819"/>
                    <a:pt x="1390650" y="209550"/>
                  </a:cubicBezTo>
                  <a:lnTo>
                    <a:pt x="1390650" y="1447800"/>
                  </a:lnTo>
                  <a:cubicBezTo>
                    <a:pt x="1390650" y="1563531"/>
                    <a:pt x="1296831" y="1657350"/>
                    <a:pt x="1181100" y="1657350"/>
                  </a:cubicBezTo>
                  <a:lnTo>
                    <a:pt x="209550" y="1657350"/>
                  </a:lnTo>
                  <a:cubicBezTo>
                    <a:pt x="93819" y="1657350"/>
                    <a:pt x="0" y="1563531"/>
                    <a:pt x="0" y="14478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</p:spPr>
        </p:pic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86750" y="4095750"/>
              <a:ext cx="1390650" cy="1657350"/>
            </a:xfrm>
            <a:custGeom>
              <a:avLst/>
              <a:gdLst/>
              <a:ahLst/>
              <a:cxnLst/>
              <a:rect l="l" t="t" r="r" b="b"/>
              <a:pathLst>
                <a:path w="1390650" h="1657350">
                  <a:moveTo>
                    <a:pt x="209550" y="0"/>
                  </a:moveTo>
                  <a:lnTo>
                    <a:pt x="1181100" y="0"/>
                  </a:lnTo>
                  <a:cubicBezTo>
                    <a:pt x="1296831" y="0"/>
                    <a:pt x="1390650" y="93819"/>
                    <a:pt x="1390650" y="209550"/>
                  </a:cubicBezTo>
                  <a:lnTo>
                    <a:pt x="1390650" y="1447800"/>
                  </a:lnTo>
                  <a:cubicBezTo>
                    <a:pt x="1390650" y="1563531"/>
                    <a:pt x="1296831" y="1657350"/>
                    <a:pt x="1181100" y="1657350"/>
                  </a:cubicBezTo>
                  <a:lnTo>
                    <a:pt x="209550" y="1657350"/>
                  </a:lnTo>
                  <a:cubicBezTo>
                    <a:pt x="93819" y="1657350"/>
                    <a:pt x="0" y="1563531"/>
                    <a:pt x="0" y="14478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</p:spPr>
        </p:pic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86950" y="4095750"/>
              <a:ext cx="1390650" cy="1657350"/>
            </a:xfrm>
            <a:custGeom>
              <a:avLst/>
              <a:gdLst/>
              <a:ahLst/>
              <a:cxnLst/>
              <a:rect l="l" t="t" r="r" b="b"/>
              <a:pathLst>
                <a:path w="1390650" h="1657350">
                  <a:moveTo>
                    <a:pt x="209550" y="0"/>
                  </a:moveTo>
                  <a:lnTo>
                    <a:pt x="1181100" y="0"/>
                  </a:lnTo>
                  <a:cubicBezTo>
                    <a:pt x="1296831" y="0"/>
                    <a:pt x="1390650" y="93819"/>
                    <a:pt x="1390650" y="209550"/>
                  </a:cubicBezTo>
                  <a:lnTo>
                    <a:pt x="1390650" y="1447800"/>
                  </a:lnTo>
                  <a:cubicBezTo>
                    <a:pt x="1390650" y="1563531"/>
                    <a:pt x="1296831" y="1657350"/>
                    <a:pt x="1181100" y="1657350"/>
                  </a:cubicBezTo>
                  <a:lnTo>
                    <a:pt x="209550" y="1657350"/>
                  </a:lnTo>
                  <a:cubicBezTo>
                    <a:pt x="93819" y="1657350"/>
                    <a:pt x="0" y="1563531"/>
                    <a:pt x="0" y="14478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</p:spPr>
        </p:pic>
        <p:sp>
          <p:nvSpPr>
            <p:cNvPr id="29" name="TextBox 29"/>
            <p:cNvSpPr txBox="1"/>
            <p:nvPr/>
          </p:nvSpPr>
          <p:spPr>
            <a:xfrm>
              <a:off x="6938010" y="377571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8"/>
                  </a:solidFill>
                  <a:latin typeface="Arial"/>
                  <a:ea typeface="Microsoft YaHei"/>
                  <a:cs typeface="Arial"/>
                </a:rPr>
                <a:t>导航壳层与后台入口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05638" y="5831681"/>
              <a:ext cx="28299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8"/>
                  </a:solidFill>
                  <a:latin typeface="Arial"/>
                  <a:ea typeface="Microsoft YaHei"/>
                  <a:cs typeface="Arial"/>
                </a:rPr>
                <a:t>阅读主题示意：Kraft / Light / Night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02920" y="6446520"/>
            <a:ext cx="62073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3A3"/>
                </a:solidFill>
                <a:latin typeface="Arial"/>
                <a:ea typeface="Microsoft YaHei"/>
                <a:cs typeface="Arial"/>
              </a:rPr>
              <a:t>Source: docs/第一阶段详细功能文档.md, docs/Flutter应用架构文档.md, project prototype images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14350" y="3810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0565" y="372428"/>
            <a:ext cx="909799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2747"/>
                </a:solidFill>
                <a:latin typeface="Arial"/>
                <a:ea typeface="Microsoft YaHei"/>
                <a:cs typeface="Arial"/>
              </a:rPr>
              <a:t>管理后台把“资源接入到内容入库”的动作真正流程化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47977" y="5343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93A3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876300"/>
            <a:ext cx="11163300" cy="514350"/>
          </a:xfrm>
          <a:custGeom>
            <a:avLst/>
            <a:gdLst/>
            <a:ahLst/>
            <a:cxnLst/>
            <a:rect l="l" t="t" r="r" b="b"/>
            <a:pathLst>
              <a:path w="11163300" h="514350">
                <a:moveTo>
                  <a:pt x="152400" y="0"/>
                </a:moveTo>
                <a:lnTo>
                  <a:pt x="11010900" y="0"/>
                </a:lnTo>
                <a:cubicBezTo>
                  <a:pt x="11095068" y="0"/>
                  <a:pt x="11163300" y="68232"/>
                  <a:pt x="11163300" y="152400"/>
                </a:cubicBezTo>
                <a:lnTo>
                  <a:pt x="11163300" y="361950"/>
                </a:lnTo>
                <a:cubicBezTo>
                  <a:pt x="11163300" y="446118"/>
                  <a:pt x="11095068" y="514350"/>
                  <a:pt x="11010900" y="514350"/>
                </a:cubicBezTo>
                <a:lnTo>
                  <a:pt x="152400" y="514350"/>
                </a:lnTo>
                <a:cubicBezTo>
                  <a:pt x="68232" y="514350"/>
                  <a:pt x="0" y="446118"/>
                  <a:pt x="0" y="3619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E9EEF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1054418"/>
            <a:ext cx="75463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2433"/>
                </a:solidFill>
                <a:latin typeface="Arial"/>
                <a:ea typeface="Microsoft YaHei"/>
                <a:cs typeface="Arial"/>
              </a:rPr>
              <a:t>系统不仅服务读者，也服务管理者，让 WebDAV 书库接入、扫描和入库形成高效链路。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514350" y="1733550"/>
            <a:ext cx="6368463" cy="4476750"/>
            <a:chOff x="514350" y="1733550"/>
            <a:chExt cx="6368463" cy="4476750"/>
          </a:xfrm>
        </p:grpSpPr>
        <p:sp>
          <p:nvSpPr>
            <p:cNvPr id="8" name="Freeform 8"/>
            <p:cNvSpPr/>
            <p:nvPr/>
          </p:nvSpPr>
          <p:spPr>
            <a:xfrm>
              <a:off x="514350" y="1733550"/>
              <a:ext cx="6134100" cy="4476750"/>
            </a:xfrm>
            <a:custGeom>
              <a:avLst/>
              <a:gdLst/>
              <a:ahLst/>
              <a:cxnLst/>
              <a:rect l="l" t="t" r="r" b="b"/>
              <a:pathLst>
                <a:path w="6134100" h="4476750">
                  <a:moveTo>
                    <a:pt x="266700" y="0"/>
                  </a:moveTo>
                  <a:lnTo>
                    <a:pt x="5867400" y="0"/>
                  </a:lnTo>
                  <a:cubicBezTo>
                    <a:pt x="6014694" y="0"/>
                    <a:pt x="6134100" y="119406"/>
                    <a:pt x="6134100" y="266700"/>
                  </a:cubicBezTo>
                  <a:lnTo>
                    <a:pt x="6134100" y="4210050"/>
                  </a:lnTo>
                  <a:cubicBezTo>
                    <a:pt x="6134100" y="4357344"/>
                    <a:pt x="6014694" y="4476750"/>
                    <a:pt x="5867400" y="4476750"/>
                  </a:cubicBezTo>
                  <a:lnTo>
                    <a:pt x="266700" y="4476750"/>
                  </a:lnTo>
                  <a:cubicBezTo>
                    <a:pt x="119406" y="4476750"/>
                    <a:pt x="0" y="4357344"/>
                    <a:pt x="0" y="4210050"/>
                  </a:cubicBezTo>
                  <a:lnTo>
                    <a:pt x="0" y="266700"/>
                  </a:ln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6DDE8"/>
              </a:solidFill>
            </a:ln>
            <a:effectLst>
              <a:outerShdw blurRad="190500" dist="57150" dir="5400000" algn="ctr" rotWithShape="0">
                <a:srgbClr val="5B6678">
                  <a:alpha val="120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796290" y="195834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后台能力版图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19150" y="2400300"/>
              <a:ext cx="2590800" cy="690562"/>
              <a:chOff x="819150" y="2400300"/>
              <a:chExt cx="2590800" cy="69056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19150" y="2400300"/>
                <a:ext cx="25908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2590800" h="647700">
                    <a:moveTo>
                      <a:pt x="171450" y="0"/>
                    </a:moveTo>
                    <a:lnTo>
                      <a:pt x="2419350" y="0"/>
                    </a:lnTo>
                    <a:cubicBezTo>
                      <a:pt x="2514039" y="0"/>
                      <a:pt x="2590800" y="76761"/>
                      <a:pt x="2590800" y="171450"/>
                    </a:cubicBezTo>
                    <a:lnTo>
                      <a:pt x="2590800" y="476250"/>
                    </a:lnTo>
                    <a:cubicBezTo>
                      <a:pt x="2590800" y="570939"/>
                      <a:pt x="2514039" y="647700"/>
                      <a:pt x="2419350" y="647700"/>
                    </a:cubicBezTo>
                    <a:lnTo>
                      <a:pt x="171450" y="647700"/>
                    </a:lnTo>
                    <a:cubicBezTo>
                      <a:pt x="76761" y="647700"/>
                      <a:pt x="0" y="570939"/>
                      <a:pt x="0" y="4762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6F8FB"/>
              </a:solidFill>
              <a:ln>
                <a:noFill/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1028700" y="2607469"/>
                <a:ext cx="266700" cy="233362"/>
                <a:chOff x="1028700" y="2607469"/>
                <a:chExt cx="266700" cy="233362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078706" y="2607469"/>
                  <a:ext cx="83344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83344">
                      <a:moveTo>
                        <a:pt x="83344" y="41672"/>
                      </a:moveTo>
                      <a:cubicBezTo>
                        <a:pt x="83344" y="64687"/>
                        <a:pt x="64687" y="83344"/>
                        <a:pt x="41672" y="83344"/>
                      </a:cubicBezTo>
                      <a:cubicBezTo>
                        <a:pt x="18657" y="83344"/>
                        <a:pt x="0" y="64687"/>
                        <a:pt x="0" y="41672"/>
                      </a:cubicBezTo>
                      <a:cubicBezTo>
                        <a:pt x="0" y="18657"/>
                        <a:pt x="18657" y="0"/>
                        <a:pt x="41672" y="0"/>
                      </a:cubicBezTo>
                      <a:cubicBezTo>
                        <a:pt x="64687" y="0"/>
                        <a:pt x="83344" y="18657"/>
                        <a:pt x="83344" y="41672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028700" y="2724150"/>
                  <a:ext cx="133350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16681">
                      <a:moveTo>
                        <a:pt x="50006" y="0"/>
                      </a:moveTo>
                      <a:cubicBezTo>
                        <a:pt x="22389" y="0"/>
                        <a:pt x="0" y="22389"/>
                        <a:pt x="0" y="50006"/>
                      </a:cubicBezTo>
                      <a:lnTo>
                        <a:pt x="0" y="116681"/>
                      </a:lnTo>
                      <a:lnTo>
                        <a:pt x="133350" y="116681"/>
                      </a:lnTo>
                      <a:lnTo>
                        <a:pt x="133350" y="0"/>
                      </a:lnTo>
                      <a:lnTo>
                        <a:pt x="50006" y="0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195388" y="2724150"/>
                  <a:ext cx="100012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16681">
                      <a:moveTo>
                        <a:pt x="50006" y="0"/>
                      </a:moveTo>
                      <a:lnTo>
                        <a:pt x="0" y="0"/>
                      </a:lnTo>
                      <a:lnTo>
                        <a:pt x="0" y="116681"/>
                      </a:lnTo>
                      <a:lnTo>
                        <a:pt x="100012" y="116681"/>
                      </a:lnTo>
                      <a:lnTo>
                        <a:pt x="100012" y="50006"/>
                      </a:lnTo>
                      <a:cubicBezTo>
                        <a:pt x="100012" y="22389"/>
                        <a:pt x="77625" y="0"/>
                        <a:pt x="50006" y="0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195388" y="262413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33338" y="66675"/>
                      </a:moveTo>
                      <a:cubicBezTo>
                        <a:pt x="51750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50" y="0"/>
                        <a:pt x="33338" y="0"/>
                      </a:cubicBezTo>
                      <a:cubicBezTo>
                        <a:pt x="14925" y="0"/>
                        <a:pt x="0" y="14926"/>
                        <a:pt x="0" y="33338"/>
                      </a:cubicBezTo>
                      <a:cubicBezTo>
                        <a:pt x="0" y="51749"/>
                        <a:pt x="14925" y="66675"/>
                        <a:pt x="33338" y="66675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409700" y="2638425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用户管理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415415" y="2877502"/>
                <a:ext cx="15601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678"/>
                    </a:solidFill>
                    <a:latin typeface="Arial"/>
                    <a:ea typeface="Microsoft YaHei"/>
                    <a:cs typeface="Arial"/>
                  </a:rPr>
                  <a:t>账号启停、创建与管理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619500" y="2400300"/>
              <a:ext cx="2590800" cy="690562"/>
              <a:chOff x="3619500" y="2400300"/>
              <a:chExt cx="2590800" cy="69056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619500" y="2400300"/>
                <a:ext cx="25908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2590800" h="647700">
                    <a:moveTo>
                      <a:pt x="171450" y="0"/>
                    </a:moveTo>
                    <a:lnTo>
                      <a:pt x="2419350" y="0"/>
                    </a:lnTo>
                    <a:cubicBezTo>
                      <a:pt x="2514039" y="0"/>
                      <a:pt x="2590800" y="76761"/>
                      <a:pt x="2590800" y="171450"/>
                    </a:cubicBezTo>
                    <a:lnTo>
                      <a:pt x="2590800" y="476250"/>
                    </a:lnTo>
                    <a:cubicBezTo>
                      <a:pt x="2590800" y="570939"/>
                      <a:pt x="2514039" y="647700"/>
                      <a:pt x="2419350" y="647700"/>
                    </a:cubicBezTo>
                    <a:lnTo>
                      <a:pt x="171450" y="647700"/>
                    </a:lnTo>
                    <a:cubicBezTo>
                      <a:pt x="76761" y="647700"/>
                      <a:pt x="0" y="570939"/>
                      <a:pt x="0" y="4762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6F8FB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845719" y="2590800"/>
                <a:ext cx="23336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66700">
                    <a:moveTo>
                      <a:pt x="55842" y="223243"/>
                    </a:moveTo>
                    <a:lnTo>
                      <a:pt x="116681" y="266700"/>
                    </a:lnTo>
                    <a:lnTo>
                      <a:pt x="177521" y="223243"/>
                    </a:lnTo>
                    <a:cubicBezTo>
                      <a:pt x="212565" y="198211"/>
                      <a:pt x="233362" y="157798"/>
                      <a:pt x="233362" y="114732"/>
                    </a:cubicBezTo>
                    <a:lnTo>
                      <a:pt x="233362" y="50006"/>
                    </a:lnTo>
                    <a:lnTo>
                      <a:pt x="116681" y="0"/>
                    </a:lnTo>
                    <a:lnTo>
                      <a:pt x="0" y="50006"/>
                    </a:lnTo>
                    <a:lnTo>
                      <a:pt x="0" y="114732"/>
                    </a:lnTo>
                    <a:cubicBezTo>
                      <a:pt x="0" y="157798"/>
                      <a:pt x="20798" y="198211"/>
                      <a:pt x="55842" y="223243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210050" y="2638425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角色管理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215765" y="2877502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678"/>
                    </a:solidFill>
                    <a:latin typeface="Arial"/>
                    <a:ea typeface="Microsoft YaHei"/>
                    <a:cs typeface="Arial"/>
                  </a:rPr>
                  <a:t>权限分层与角色调整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819150" y="3219450"/>
              <a:ext cx="2616517" cy="690562"/>
              <a:chOff x="819150" y="3219450"/>
              <a:chExt cx="2616517" cy="69056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19150" y="3219450"/>
                <a:ext cx="25908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2590800" h="647700">
                    <a:moveTo>
                      <a:pt x="171450" y="0"/>
                    </a:moveTo>
                    <a:lnTo>
                      <a:pt x="2419350" y="0"/>
                    </a:lnTo>
                    <a:cubicBezTo>
                      <a:pt x="2514039" y="0"/>
                      <a:pt x="2590800" y="76761"/>
                      <a:pt x="2590800" y="171450"/>
                    </a:cubicBezTo>
                    <a:lnTo>
                      <a:pt x="2590800" y="476250"/>
                    </a:lnTo>
                    <a:cubicBezTo>
                      <a:pt x="2590800" y="570939"/>
                      <a:pt x="2514039" y="647700"/>
                      <a:pt x="2419350" y="647700"/>
                    </a:cubicBezTo>
                    <a:lnTo>
                      <a:pt x="171450" y="647700"/>
                    </a:lnTo>
                    <a:cubicBezTo>
                      <a:pt x="76761" y="647700"/>
                      <a:pt x="0" y="570939"/>
                      <a:pt x="0" y="4762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6F8FB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28700" y="3443288"/>
                <a:ext cx="266700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16694">
                    <a:moveTo>
                      <a:pt x="0" y="0"/>
                    </a:moveTo>
                    <a:lnTo>
                      <a:pt x="59771" y="0"/>
                    </a:lnTo>
                    <a:cubicBezTo>
                      <a:pt x="74864" y="0"/>
                      <a:pt x="89340" y="5996"/>
                      <a:pt x="100012" y="16669"/>
                    </a:cubicBezTo>
                    <a:cubicBezTo>
                      <a:pt x="110685" y="27342"/>
                      <a:pt x="116681" y="41817"/>
                      <a:pt x="116681" y="56911"/>
                    </a:cubicBezTo>
                    <a:lnTo>
                      <a:pt x="116681" y="150019"/>
                    </a:lnTo>
                    <a:lnTo>
                      <a:pt x="150019" y="150019"/>
                    </a:lnTo>
                    <a:lnTo>
                      <a:pt x="150019" y="56911"/>
                    </a:lnTo>
                    <a:cubicBezTo>
                      <a:pt x="150019" y="41817"/>
                      <a:pt x="156015" y="27342"/>
                      <a:pt x="166688" y="16669"/>
                    </a:cubicBezTo>
                    <a:cubicBezTo>
                      <a:pt x="177361" y="5996"/>
                      <a:pt x="191836" y="0"/>
                      <a:pt x="206929" y="0"/>
                    </a:cubicBezTo>
                    <a:lnTo>
                      <a:pt x="266700" y="0"/>
                    </a:lnTo>
                    <a:lnTo>
                      <a:pt x="266700" y="183356"/>
                    </a:lnTo>
                    <a:lnTo>
                      <a:pt x="183356" y="183356"/>
                    </a:lnTo>
                    <a:lnTo>
                      <a:pt x="150019" y="216694"/>
                    </a:lnTo>
                    <a:lnTo>
                      <a:pt x="116681" y="216694"/>
                    </a:lnTo>
                    <a:lnTo>
                      <a:pt x="83344" y="183356"/>
                    </a:lnTo>
                    <a:lnTo>
                      <a:pt x="0" y="1833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409700" y="3457575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书籍管理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415415" y="3696652"/>
                <a:ext cx="20202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678"/>
                    </a:solidFill>
                    <a:latin typeface="Arial"/>
                    <a:ea typeface="Microsoft YaHei"/>
                    <a:cs typeface="Arial"/>
                  </a:rPr>
                  <a:t>搜索、上传、详情与批量操作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619500" y="3219450"/>
              <a:ext cx="2590800" cy="690562"/>
              <a:chOff x="3619500" y="3219450"/>
              <a:chExt cx="2590800" cy="6905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3619500" y="3219450"/>
                <a:ext cx="25908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2590800" h="647700">
                    <a:moveTo>
                      <a:pt x="171450" y="0"/>
                    </a:moveTo>
                    <a:lnTo>
                      <a:pt x="2419350" y="0"/>
                    </a:lnTo>
                    <a:cubicBezTo>
                      <a:pt x="2514039" y="0"/>
                      <a:pt x="2590800" y="76761"/>
                      <a:pt x="2590800" y="171450"/>
                    </a:cubicBezTo>
                    <a:lnTo>
                      <a:pt x="2590800" y="476250"/>
                    </a:lnTo>
                    <a:cubicBezTo>
                      <a:pt x="2590800" y="570939"/>
                      <a:pt x="2514039" y="647700"/>
                      <a:pt x="2419350" y="647700"/>
                    </a:cubicBezTo>
                    <a:lnTo>
                      <a:pt x="171450" y="647700"/>
                    </a:lnTo>
                    <a:cubicBezTo>
                      <a:pt x="76761" y="647700"/>
                      <a:pt x="0" y="570939"/>
                      <a:pt x="0" y="4762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6F8FB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834414" y="3409950"/>
                <a:ext cx="25597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55972" h="266700">
                    <a:moveTo>
                      <a:pt x="102983" y="0"/>
                    </a:moveTo>
                    <a:lnTo>
                      <a:pt x="152989" y="0"/>
                    </a:lnTo>
                    <a:lnTo>
                      <a:pt x="162889" y="39596"/>
                    </a:lnTo>
                    <a:cubicBezTo>
                      <a:pt x="173452" y="43530"/>
                      <a:pt x="183171" y="49199"/>
                      <a:pt x="191699" y="56255"/>
                    </a:cubicBezTo>
                    <a:lnTo>
                      <a:pt x="230969" y="45022"/>
                    </a:lnTo>
                    <a:lnTo>
                      <a:pt x="255972" y="88328"/>
                    </a:lnTo>
                    <a:lnTo>
                      <a:pt x="226620" y="116709"/>
                    </a:lnTo>
                    <a:cubicBezTo>
                      <a:pt x="227527" y="122121"/>
                      <a:pt x="227998" y="127680"/>
                      <a:pt x="227998" y="133350"/>
                    </a:cubicBezTo>
                    <a:cubicBezTo>
                      <a:pt x="227998" y="139020"/>
                      <a:pt x="227527" y="144579"/>
                      <a:pt x="226620" y="149991"/>
                    </a:cubicBezTo>
                    <a:lnTo>
                      <a:pt x="255972" y="178372"/>
                    </a:lnTo>
                    <a:lnTo>
                      <a:pt x="230969" y="221678"/>
                    </a:lnTo>
                    <a:lnTo>
                      <a:pt x="191699" y="210445"/>
                    </a:lnTo>
                    <a:cubicBezTo>
                      <a:pt x="183171" y="217501"/>
                      <a:pt x="173452" y="223170"/>
                      <a:pt x="162889" y="227103"/>
                    </a:cubicBezTo>
                    <a:lnTo>
                      <a:pt x="152989" y="266700"/>
                    </a:lnTo>
                    <a:lnTo>
                      <a:pt x="102983" y="266700"/>
                    </a:lnTo>
                    <a:lnTo>
                      <a:pt x="93084" y="227103"/>
                    </a:lnTo>
                    <a:cubicBezTo>
                      <a:pt x="82521" y="223170"/>
                      <a:pt x="72801" y="217501"/>
                      <a:pt x="64273" y="210445"/>
                    </a:cubicBezTo>
                    <a:lnTo>
                      <a:pt x="25003" y="221678"/>
                    </a:lnTo>
                    <a:lnTo>
                      <a:pt x="0" y="178372"/>
                    </a:lnTo>
                    <a:lnTo>
                      <a:pt x="29352" y="149991"/>
                    </a:lnTo>
                    <a:cubicBezTo>
                      <a:pt x="28445" y="144579"/>
                      <a:pt x="27974" y="139020"/>
                      <a:pt x="27974" y="133350"/>
                    </a:cubicBezTo>
                    <a:cubicBezTo>
                      <a:pt x="27974" y="127680"/>
                      <a:pt x="28445" y="122121"/>
                      <a:pt x="29352" y="116709"/>
                    </a:cubicBezTo>
                    <a:lnTo>
                      <a:pt x="0" y="88328"/>
                    </a:lnTo>
                    <a:lnTo>
                      <a:pt x="25003" y="45022"/>
                    </a:lnTo>
                    <a:lnTo>
                      <a:pt x="64273" y="56255"/>
                    </a:lnTo>
                    <a:cubicBezTo>
                      <a:pt x="72801" y="49199"/>
                      <a:pt x="82520" y="43530"/>
                      <a:pt x="93084" y="39596"/>
                    </a:cubicBezTo>
                    <a:lnTo>
                      <a:pt x="102983" y="0"/>
                    </a:lnTo>
                    <a:close/>
                    <a:moveTo>
                      <a:pt x="127986" y="166688"/>
                    </a:moveTo>
                    <a:cubicBezTo>
                      <a:pt x="146398" y="166688"/>
                      <a:pt x="161323" y="151762"/>
                      <a:pt x="161323" y="133350"/>
                    </a:cubicBezTo>
                    <a:cubicBezTo>
                      <a:pt x="161323" y="114938"/>
                      <a:pt x="146398" y="100012"/>
                      <a:pt x="127986" y="100012"/>
                    </a:cubicBezTo>
                    <a:cubicBezTo>
                      <a:pt x="109574" y="100012"/>
                      <a:pt x="94649" y="114938"/>
                      <a:pt x="94649" y="133350"/>
                    </a:cubicBezTo>
                    <a:cubicBezTo>
                      <a:pt x="94649" y="151762"/>
                      <a:pt x="109574" y="166688"/>
                      <a:pt x="127986" y="166688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210050" y="3457575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批注管理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215765" y="369665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678"/>
                    </a:solidFill>
                    <a:latin typeface="Arial"/>
                    <a:ea typeface="Microsoft YaHei"/>
                    <a:cs typeface="Arial"/>
                  </a:rPr>
                  <a:t>查看、整理与运营清理动作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19150" y="4038600"/>
              <a:ext cx="6063663" cy="876300"/>
              <a:chOff x="819150" y="4038600"/>
              <a:chExt cx="6063663" cy="8763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19150" y="4038600"/>
                <a:ext cx="5391150" cy="876300"/>
              </a:xfrm>
              <a:custGeom>
                <a:avLst/>
                <a:gdLst/>
                <a:ahLst/>
                <a:cxnLst/>
                <a:rect l="l" t="t" r="r" b="b"/>
                <a:pathLst>
                  <a:path w="5391150" h="876300">
                    <a:moveTo>
                      <a:pt x="171450" y="0"/>
                    </a:moveTo>
                    <a:lnTo>
                      <a:pt x="5219700" y="0"/>
                    </a:lnTo>
                    <a:cubicBezTo>
                      <a:pt x="5314389" y="0"/>
                      <a:pt x="5391150" y="76761"/>
                      <a:pt x="5391150" y="171450"/>
                    </a:cubicBezTo>
                    <a:lnTo>
                      <a:pt x="5391150" y="704850"/>
                    </a:lnTo>
                    <a:cubicBezTo>
                      <a:pt x="5391150" y="799539"/>
                      <a:pt x="5314389" y="876300"/>
                      <a:pt x="5219700" y="876300"/>
                    </a:cubicBezTo>
                    <a:lnTo>
                      <a:pt x="171450" y="876300"/>
                    </a:lnTo>
                    <a:cubicBezTo>
                      <a:pt x="76761" y="876300"/>
                      <a:pt x="0" y="799539"/>
                      <a:pt x="0" y="7048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0F2747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28700" y="4342209"/>
                <a:ext cx="285750" cy="232172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32172">
                    <a:moveTo>
                      <a:pt x="0" y="0"/>
                    </a:moveTo>
                    <a:lnTo>
                      <a:pt x="89297" y="0"/>
                    </a:lnTo>
                    <a:lnTo>
                      <a:pt x="142875" y="35719"/>
                    </a:lnTo>
                    <a:lnTo>
                      <a:pt x="232172" y="35719"/>
                    </a:lnTo>
                    <a:lnTo>
                      <a:pt x="232172" y="71438"/>
                    </a:lnTo>
                    <a:lnTo>
                      <a:pt x="66896" y="71438"/>
                    </a:lnTo>
                    <a:lnTo>
                      <a:pt x="36280" y="178594"/>
                    </a:lnTo>
                    <a:lnTo>
                      <a:pt x="73428" y="178594"/>
                    </a:lnTo>
                    <a:lnTo>
                      <a:pt x="93839" y="107156"/>
                    </a:lnTo>
                    <a:lnTo>
                      <a:pt x="285750" y="107156"/>
                    </a:lnTo>
                    <a:lnTo>
                      <a:pt x="250031" y="232172"/>
                    </a:lnTo>
                    <a:lnTo>
                      <a:pt x="0" y="2321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426845" y="4317682"/>
                <a:ext cx="105403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资源扫描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431608" y="4624864"/>
                <a:ext cx="545120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DCE7F5"/>
                    </a:solidFill>
                    <a:latin typeface="Arial"/>
                    <a:ea typeface="Microsoft YaHei"/>
                    <a:cs typeface="Arial"/>
                  </a:rPr>
                  <a:t>支持维护 WebDAV 扫描源、触发扫描任务，并把结果导入图书库。</a:t>
                </a:r>
              </a:p>
            </p:txBody>
          </p:sp>
        </p:grpSp>
        <p:sp>
          <p:nvSpPr>
            <p:cNvPr id="39" name="Freeform 39"/>
            <p:cNvSpPr/>
            <p:nvPr/>
          </p:nvSpPr>
          <p:spPr>
            <a:xfrm>
              <a:off x="819150" y="5219700"/>
              <a:ext cx="5391150" cy="666750"/>
            </a:xfrm>
            <a:custGeom>
              <a:avLst/>
              <a:gdLst/>
              <a:ahLst/>
              <a:cxnLst/>
              <a:rect l="l" t="t" r="r" b="b"/>
              <a:pathLst>
                <a:path w="5391150" h="666750">
                  <a:moveTo>
                    <a:pt x="171450" y="0"/>
                  </a:moveTo>
                  <a:lnTo>
                    <a:pt x="5219700" y="0"/>
                  </a:lnTo>
                  <a:cubicBezTo>
                    <a:pt x="5314389" y="0"/>
                    <a:pt x="5391150" y="76761"/>
                    <a:pt x="5391150" y="171450"/>
                  </a:cubicBezTo>
                  <a:lnTo>
                    <a:pt x="5391150" y="495300"/>
                  </a:lnTo>
                  <a:cubicBezTo>
                    <a:pt x="5391150" y="589989"/>
                    <a:pt x="5314389" y="666750"/>
                    <a:pt x="5219700" y="666750"/>
                  </a:cubicBezTo>
                  <a:lnTo>
                    <a:pt x="171450" y="666750"/>
                  </a:lnTo>
                  <a:cubicBezTo>
                    <a:pt x="76761" y="666750"/>
                    <a:pt x="0" y="589989"/>
                    <a:pt x="0" y="495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9EEF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11555" y="5493068"/>
              <a:ext cx="4411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管理后台已经从“查看信息”走向“驱动内容流转”。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048500" y="1378268"/>
            <a:ext cx="4629150" cy="4832032"/>
            <a:chOff x="7048500" y="1378268"/>
            <a:chExt cx="4629150" cy="4832032"/>
          </a:xfrm>
        </p:grpSpPr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0" y="1733550"/>
              <a:ext cx="4095750" cy="1790700"/>
            </a:xfrm>
            <a:custGeom>
              <a:avLst/>
              <a:gdLst/>
              <a:ahLst/>
              <a:cxnLst/>
              <a:rect l="l" t="t" r="r" b="b"/>
              <a:pathLst>
                <a:path w="4095750" h="1790700">
                  <a:moveTo>
                    <a:pt x="228600" y="0"/>
                  </a:moveTo>
                  <a:lnTo>
                    <a:pt x="3867150" y="0"/>
                  </a:lnTo>
                  <a:cubicBezTo>
                    <a:pt x="3993402" y="0"/>
                    <a:pt x="4095750" y="102348"/>
                    <a:pt x="4095750" y="228600"/>
                  </a:cubicBezTo>
                  <a:lnTo>
                    <a:pt x="4095750" y="1562100"/>
                  </a:lnTo>
                  <a:cubicBezTo>
                    <a:pt x="4095750" y="1688352"/>
                    <a:pt x="3993402" y="1790700"/>
                    <a:pt x="3867150" y="1790700"/>
                  </a:cubicBezTo>
                  <a:lnTo>
                    <a:pt x="228600" y="1790700"/>
                  </a:lnTo>
                  <a:cubicBezTo>
                    <a:pt x="102348" y="1790700"/>
                    <a:pt x="0" y="1688352"/>
                    <a:pt x="0" y="15621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</p:spPr>
        </p:pic>
        <p:sp>
          <p:nvSpPr>
            <p:cNvPr id="43" name="TextBox 43"/>
            <p:cNvSpPr txBox="1"/>
            <p:nvPr/>
          </p:nvSpPr>
          <p:spPr>
            <a:xfrm>
              <a:off x="7221855" y="1378268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后台导航与入口布局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7048500" y="3886200"/>
              <a:ext cx="4629150" cy="2324100"/>
            </a:xfrm>
            <a:custGeom>
              <a:avLst/>
              <a:gdLst/>
              <a:ahLst/>
              <a:cxnLst/>
              <a:rect l="l" t="t" r="r" b="b"/>
              <a:pathLst>
                <a:path w="4629150" h="2324100">
                  <a:moveTo>
                    <a:pt x="266700" y="0"/>
                  </a:moveTo>
                  <a:lnTo>
                    <a:pt x="4362450" y="0"/>
                  </a:lnTo>
                  <a:cubicBezTo>
                    <a:pt x="4509744" y="0"/>
                    <a:pt x="4629150" y="119406"/>
                    <a:pt x="4629150" y="266700"/>
                  </a:cubicBezTo>
                  <a:lnTo>
                    <a:pt x="4629150" y="2057400"/>
                  </a:lnTo>
                  <a:cubicBezTo>
                    <a:pt x="4629150" y="2204694"/>
                    <a:pt x="4509744" y="2324100"/>
                    <a:pt x="4362450" y="2324100"/>
                  </a:cubicBezTo>
                  <a:lnTo>
                    <a:pt x="266700" y="2324100"/>
                  </a:lnTo>
                  <a:cubicBezTo>
                    <a:pt x="119406" y="2324100"/>
                    <a:pt x="0" y="2204694"/>
                    <a:pt x="0" y="2057400"/>
                  </a:cubicBezTo>
                  <a:lnTo>
                    <a:pt x="0" y="266700"/>
                  </a:ln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6DDE8"/>
              </a:solidFill>
            </a:ln>
            <a:effectLst>
              <a:outerShdw blurRad="190500" dist="57150" dir="5400000" algn="ctr" rotWithShape="0">
                <a:srgbClr val="5B6678">
                  <a:alpha val="12000"/>
                </a:srgbClr>
              </a:outerShdw>
            </a:effectLst>
          </p:spPr>
        </p:sp>
        <p:sp>
          <p:nvSpPr>
            <p:cNvPr id="45" name="TextBox 45"/>
            <p:cNvSpPr txBox="1"/>
            <p:nvPr/>
          </p:nvSpPr>
          <p:spPr>
            <a:xfrm>
              <a:off x="7313295" y="407003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扫描导入流程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7334250" y="4591050"/>
              <a:ext cx="933450" cy="666750"/>
              <a:chOff x="7334250" y="4591050"/>
              <a:chExt cx="933450" cy="66675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34250" y="4591050"/>
                <a:ext cx="9334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933450" h="666750">
                    <a:moveTo>
                      <a:pt x="171450" y="0"/>
                    </a:moveTo>
                    <a:lnTo>
                      <a:pt x="762000" y="0"/>
                    </a:lnTo>
                    <a:cubicBezTo>
                      <a:pt x="856689" y="0"/>
                      <a:pt x="933450" y="76761"/>
                      <a:pt x="933450" y="171450"/>
                    </a:cubicBezTo>
                    <a:lnTo>
                      <a:pt x="933450" y="495300"/>
                    </a:lnTo>
                    <a:cubicBezTo>
                      <a:pt x="933450" y="589989"/>
                      <a:pt x="856689" y="666750"/>
                      <a:pt x="762000" y="666750"/>
                    </a:cubicBezTo>
                    <a:lnTo>
                      <a:pt x="171450" y="666750"/>
                    </a:lnTo>
                    <a:cubicBezTo>
                      <a:pt x="76761" y="666750"/>
                      <a:pt x="0" y="589989"/>
                      <a:pt x="0" y="495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01712" y="47377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配置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557611" y="4973002"/>
                <a:ext cx="4867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扫描源</a:t>
                </a:r>
              </a:p>
            </p:txBody>
          </p:sp>
        </p:grpSp>
        <p:sp>
          <p:nvSpPr>
            <p:cNvPr id="50" name="Line 50"/>
            <p:cNvSpPr/>
            <p:nvPr/>
          </p:nvSpPr>
          <p:spPr>
            <a:xfrm>
              <a:off x="8267700" y="4924425"/>
              <a:ext cx="590550" cy="1"/>
            </a:xfrm>
            <a:prstGeom prst="line">
              <a:avLst/>
            </a:prstGeom>
            <a:noFill/>
            <a:ln w="28575">
              <a:solidFill>
                <a:srgbClr val="1565C0"/>
              </a:solidFill>
              <a:tailEnd type="triangle" w="lg" len="lg"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934450" y="4591050"/>
              <a:ext cx="933450" cy="666750"/>
              <a:chOff x="8934450" y="4591050"/>
              <a:chExt cx="933450" cy="66675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934450" y="4591050"/>
                <a:ext cx="9334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933450" h="666750">
                    <a:moveTo>
                      <a:pt x="171450" y="0"/>
                    </a:moveTo>
                    <a:lnTo>
                      <a:pt x="762000" y="0"/>
                    </a:lnTo>
                    <a:cubicBezTo>
                      <a:pt x="856689" y="0"/>
                      <a:pt x="933450" y="76761"/>
                      <a:pt x="933450" y="171450"/>
                    </a:cubicBezTo>
                    <a:lnTo>
                      <a:pt x="933450" y="495300"/>
                    </a:lnTo>
                    <a:cubicBezTo>
                      <a:pt x="933450" y="589989"/>
                      <a:pt x="856689" y="666750"/>
                      <a:pt x="762000" y="666750"/>
                    </a:cubicBezTo>
                    <a:lnTo>
                      <a:pt x="171450" y="666750"/>
                    </a:lnTo>
                    <a:cubicBezTo>
                      <a:pt x="76761" y="666750"/>
                      <a:pt x="0" y="589989"/>
                      <a:pt x="0" y="495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201912" y="47377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发起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081135" y="49730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扫描任务</a:t>
                </a:r>
              </a:p>
            </p:txBody>
          </p:sp>
        </p:grpSp>
        <p:sp>
          <p:nvSpPr>
            <p:cNvPr id="55" name="Line 55"/>
            <p:cNvSpPr/>
            <p:nvPr/>
          </p:nvSpPr>
          <p:spPr>
            <a:xfrm>
              <a:off x="9867900" y="4924425"/>
              <a:ext cx="590550" cy="1"/>
            </a:xfrm>
            <a:prstGeom prst="line">
              <a:avLst/>
            </a:prstGeom>
            <a:noFill/>
            <a:ln w="28575">
              <a:solidFill>
                <a:srgbClr val="1565C0"/>
              </a:solidFill>
              <a:tailEnd type="triangle" w="lg" len="lg"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10534650" y="4591050"/>
              <a:ext cx="933450" cy="666750"/>
              <a:chOff x="10534650" y="4591050"/>
              <a:chExt cx="933450" cy="66675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10534650" y="4591050"/>
                <a:ext cx="9334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933450" h="666750">
                    <a:moveTo>
                      <a:pt x="171450" y="0"/>
                    </a:moveTo>
                    <a:lnTo>
                      <a:pt x="762000" y="0"/>
                    </a:lnTo>
                    <a:cubicBezTo>
                      <a:pt x="856689" y="0"/>
                      <a:pt x="933450" y="76761"/>
                      <a:pt x="933450" y="171450"/>
                    </a:cubicBezTo>
                    <a:lnTo>
                      <a:pt x="933450" y="495300"/>
                    </a:lnTo>
                    <a:cubicBezTo>
                      <a:pt x="933450" y="589989"/>
                      <a:pt x="856689" y="666750"/>
                      <a:pt x="762000" y="666750"/>
                    </a:cubicBezTo>
                    <a:lnTo>
                      <a:pt x="171450" y="666750"/>
                    </a:lnTo>
                    <a:cubicBezTo>
                      <a:pt x="76761" y="666750"/>
                      <a:pt x="0" y="589989"/>
                      <a:pt x="0" y="495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0802112" y="47377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解析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0758011" y="4973002"/>
                <a:ext cx="4867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元数据</a:t>
                </a:r>
              </a:p>
            </p:txBody>
          </p:sp>
        </p:grpSp>
        <p:sp>
          <p:nvSpPr>
            <p:cNvPr id="60" name="Line 60"/>
            <p:cNvSpPr/>
            <p:nvPr/>
          </p:nvSpPr>
          <p:spPr>
            <a:xfrm>
              <a:off x="11001375" y="5257800"/>
              <a:ext cx="1" cy="381000"/>
            </a:xfrm>
            <a:prstGeom prst="line">
              <a:avLst/>
            </a:prstGeom>
            <a:noFill/>
            <a:ln w="28575">
              <a:solidFill>
                <a:srgbClr val="1565C0"/>
              </a:solidFill>
              <a:tailEnd type="triangle" w="lg" len="lg"/>
            </a:ln>
          </p:spPr>
        </p:sp>
        <p:sp>
          <p:nvSpPr>
            <p:cNvPr id="61" name="Line 61"/>
            <p:cNvSpPr/>
            <p:nvPr/>
          </p:nvSpPr>
          <p:spPr>
            <a:xfrm flipH="1">
              <a:off x="8458200" y="5638800"/>
              <a:ext cx="2543175" cy="1"/>
            </a:xfrm>
            <a:prstGeom prst="line">
              <a:avLst/>
            </a:prstGeom>
            <a:noFill/>
            <a:ln w="28575">
              <a:solidFill>
                <a:srgbClr val="1565C0"/>
              </a:solidFill>
              <a:tailEnd type="triangle" w="lg" len="lg"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8001000" y="5486400"/>
              <a:ext cx="1200150" cy="495300"/>
              <a:chOff x="8001000" y="5486400"/>
              <a:chExt cx="1200150" cy="4953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001000" y="5486400"/>
                <a:ext cx="120015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495300">
                    <a:moveTo>
                      <a:pt x="152400" y="0"/>
                    </a:moveTo>
                    <a:lnTo>
                      <a:pt x="1047750" y="0"/>
                    </a:lnTo>
                    <a:cubicBezTo>
                      <a:pt x="1131918" y="0"/>
                      <a:pt x="1200150" y="68232"/>
                      <a:pt x="1200150" y="152400"/>
                    </a:cubicBezTo>
                    <a:lnTo>
                      <a:pt x="1200150" y="342900"/>
                    </a:lnTo>
                    <a:cubicBezTo>
                      <a:pt x="1200150" y="427068"/>
                      <a:pt x="1131918" y="495300"/>
                      <a:pt x="1047750" y="495300"/>
                    </a:cubicBezTo>
                    <a:lnTo>
                      <a:pt x="152400" y="495300"/>
                    </a:lnTo>
                    <a:cubicBezTo>
                      <a:pt x="68232" y="495300"/>
                      <a:pt x="0" y="427068"/>
                      <a:pt x="0" y="3429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2FA39A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8169878" y="5645468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图书入库</a:t>
                </a:r>
              </a:p>
            </p:txBody>
          </p:sp>
        </p:grpSp>
      </p:grpSp>
      <p:sp>
        <p:nvSpPr>
          <p:cNvPr id="66" name="TextBox 66"/>
          <p:cNvSpPr txBox="1"/>
          <p:nvPr/>
        </p:nvSpPr>
        <p:spPr>
          <a:xfrm>
            <a:off x="502920" y="6446520"/>
            <a:ext cx="5734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3A3"/>
                </a:solidFill>
                <a:latin typeface="Arial"/>
                <a:ea typeface="Microsoft YaHei"/>
                <a:cs typeface="Arial"/>
              </a:rPr>
              <a:t>Source: docs/第一阶段详细功能文档.md, docs/后端架构文档.md, project prototype images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14350" y="3810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0565" y="372428"/>
            <a:ext cx="984099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2747"/>
                </a:solidFill>
                <a:latin typeface="Arial"/>
                <a:ea typeface="Microsoft YaHei"/>
                <a:cs typeface="Arial"/>
              </a:rPr>
              <a:t>架构以可扩展与可交付为目标，兼顾当前落地与未来演进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47977" y="5343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93A3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876300"/>
            <a:ext cx="11163300" cy="514350"/>
          </a:xfrm>
          <a:custGeom>
            <a:avLst/>
            <a:gdLst/>
            <a:ahLst/>
            <a:cxnLst/>
            <a:rect l="l" t="t" r="r" b="b"/>
            <a:pathLst>
              <a:path w="11163300" h="514350">
                <a:moveTo>
                  <a:pt x="152400" y="0"/>
                </a:moveTo>
                <a:lnTo>
                  <a:pt x="11010900" y="0"/>
                </a:lnTo>
                <a:cubicBezTo>
                  <a:pt x="11095068" y="0"/>
                  <a:pt x="11163300" y="68232"/>
                  <a:pt x="11163300" y="152400"/>
                </a:cubicBezTo>
                <a:lnTo>
                  <a:pt x="11163300" y="361950"/>
                </a:lnTo>
                <a:cubicBezTo>
                  <a:pt x="11163300" y="446118"/>
                  <a:pt x="11095068" y="514350"/>
                  <a:pt x="11010900" y="514350"/>
                </a:cubicBezTo>
                <a:lnTo>
                  <a:pt x="152400" y="514350"/>
                </a:lnTo>
                <a:cubicBezTo>
                  <a:pt x="68232" y="514350"/>
                  <a:pt x="0" y="446118"/>
                  <a:pt x="0" y="3619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E9EEF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1054418"/>
            <a:ext cx="90152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2433"/>
                </a:solidFill>
                <a:latin typeface="Arial"/>
                <a:ea typeface="Microsoft YaHei"/>
                <a:cs typeface="Arial"/>
              </a:rPr>
              <a:t>后端、格式插件、Flutter 多端基座之间已经形成清晰边界，为 Native Image 和多端扩展预留了空间。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14350" y="1695450"/>
            <a:ext cx="8035933" cy="4514850"/>
            <a:chOff x="514350" y="1695450"/>
            <a:chExt cx="8035933" cy="4514850"/>
          </a:xfrm>
        </p:grpSpPr>
        <p:sp>
          <p:nvSpPr>
            <p:cNvPr id="8" name="Freeform 8"/>
            <p:cNvSpPr/>
            <p:nvPr/>
          </p:nvSpPr>
          <p:spPr>
            <a:xfrm>
              <a:off x="514350" y="1695450"/>
              <a:ext cx="5391150" cy="4514850"/>
            </a:xfrm>
            <a:custGeom>
              <a:avLst/>
              <a:gdLst/>
              <a:ahLst/>
              <a:cxnLst/>
              <a:rect l="l" t="t" r="r" b="b"/>
              <a:pathLst>
                <a:path w="5391150" h="4514850">
                  <a:moveTo>
                    <a:pt x="266700" y="0"/>
                  </a:moveTo>
                  <a:lnTo>
                    <a:pt x="5124450" y="0"/>
                  </a:lnTo>
                  <a:cubicBezTo>
                    <a:pt x="5271744" y="0"/>
                    <a:pt x="5391150" y="119406"/>
                    <a:pt x="5391150" y="266700"/>
                  </a:cubicBezTo>
                  <a:lnTo>
                    <a:pt x="5391150" y="4248150"/>
                  </a:lnTo>
                  <a:cubicBezTo>
                    <a:pt x="5391150" y="4395444"/>
                    <a:pt x="5271744" y="4514850"/>
                    <a:pt x="5124450" y="4514850"/>
                  </a:cubicBezTo>
                  <a:lnTo>
                    <a:pt x="266700" y="4514850"/>
                  </a:lnTo>
                  <a:cubicBezTo>
                    <a:pt x="119406" y="4514850"/>
                    <a:pt x="0" y="4395444"/>
                    <a:pt x="0" y="4248150"/>
                  </a:cubicBezTo>
                  <a:lnTo>
                    <a:pt x="0" y="266700"/>
                  </a:ln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6DDE8"/>
              </a:solidFill>
            </a:ln>
            <a:effectLst>
              <a:outerShdw blurRad="190500" dist="57150" dir="5400000" algn="ctr" rotWithShape="0">
                <a:srgbClr val="5B6678">
                  <a:alpha val="120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777240" y="193929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三层架构示意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00100" y="2419350"/>
              <a:ext cx="7750183" cy="914400"/>
              <a:chOff x="800100" y="2419350"/>
              <a:chExt cx="7750183" cy="914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00100" y="2419350"/>
                <a:ext cx="481965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4819650" h="914400">
                    <a:moveTo>
                      <a:pt x="209550" y="0"/>
                    </a:moveTo>
                    <a:lnTo>
                      <a:pt x="4610100" y="0"/>
                    </a:lnTo>
                    <a:cubicBezTo>
                      <a:pt x="4725831" y="0"/>
                      <a:pt x="4819650" y="93819"/>
                      <a:pt x="4819650" y="209550"/>
                    </a:cubicBezTo>
                    <a:lnTo>
                      <a:pt x="4819650" y="704850"/>
                    </a:lnTo>
                    <a:cubicBezTo>
                      <a:pt x="4819650" y="820581"/>
                      <a:pt x="4725831" y="914400"/>
                      <a:pt x="4610100" y="914400"/>
                    </a:cubicBezTo>
                    <a:lnTo>
                      <a:pt x="209550" y="914400"/>
                    </a:lnTo>
                    <a:cubicBezTo>
                      <a:pt x="93819" y="914400"/>
                      <a:pt x="0" y="820581"/>
                      <a:pt x="0" y="704850"/>
                    </a:cubicBezTo>
                    <a:lnTo>
                      <a:pt x="0" y="209550"/>
                    </a:lnTo>
                    <a:cubicBezTo>
                      <a:pt x="0" y="93819"/>
                      <a:pt x="93819" y="0"/>
                      <a:pt x="209550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66800" y="2724150"/>
                <a:ext cx="228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304800">
                    <a:moveTo>
                      <a:pt x="38100" y="0"/>
                    </a:moveTo>
                    <a:cubicBezTo>
                      <a:pt x="17058" y="0"/>
                      <a:pt x="0" y="17058"/>
                      <a:pt x="0" y="38100"/>
                    </a:cubicBezTo>
                    <a:lnTo>
                      <a:pt x="0" y="266700"/>
                    </a:lnTo>
                    <a:cubicBezTo>
                      <a:pt x="0" y="287743"/>
                      <a:pt x="17058" y="304800"/>
                      <a:pt x="38100" y="304800"/>
                    </a:cubicBezTo>
                    <a:lnTo>
                      <a:pt x="190500" y="304800"/>
                    </a:lnTo>
                    <a:cubicBezTo>
                      <a:pt x="211543" y="304800"/>
                      <a:pt x="228600" y="287743"/>
                      <a:pt x="228600" y="266700"/>
                    </a:cubicBezTo>
                    <a:lnTo>
                      <a:pt x="228600" y="38100"/>
                    </a:lnTo>
                    <a:cubicBezTo>
                      <a:pt x="228600" y="17058"/>
                      <a:pt x="211543" y="0"/>
                      <a:pt x="190500" y="0"/>
                    </a:cubicBezTo>
                    <a:lnTo>
                      <a:pt x="38100" y="0"/>
                    </a:lnTo>
                    <a:close/>
                    <a:moveTo>
                      <a:pt x="190500" y="57150"/>
                    </a:moveTo>
                    <a:lnTo>
                      <a:pt x="38100" y="57150"/>
                    </a:lnTo>
                    <a:lnTo>
                      <a:pt x="38100" y="247650"/>
                    </a:lnTo>
                    <a:lnTo>
                      <a:pt x="190500" y="247650"/>
                    </a:lnTo>
                    <a:lnTo>
                      <a:pt x="190500" y="571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63040" y="2739390"/>
                <a:ext cx="317871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Flutter Frontend Layer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69708" y="3043714"/>
                <a:ext cx="708057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app / data / features / shared，当前覆盖手机和平板，后续向 Web/Desktop 延展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3209925" y="3333750"/>
              <a:ext cx="1" cy="381000"/>
            </a:xfrm>
            <a:prstGeom prst="line">
              <a:avLst/>
            </a:prstGeom>
            <a:noFill/>
            <a:ln w="28575">
              <a:solidFill>
                <a:srgbClr val="1565C0"/>
              </a:solidFill>
              <a:tailEnd type="triangle" w="lg" len="lg"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00100" y="3790950"/>
              <a:ext cx="7284649" cy="1047750"/>
              <a:chOff x="800100" y="3790950"/>
              <a:chExt cx="7284649" cy="10477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00100" y="3790950"/>
                <a:ext cx="481965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4819650" h="1047750">
                    <a:moveTo>
                      <a:pt x="209550" y="0"/>
                    </a:moveTo>
                    <a:lnTo>
                      <a:pt x="4610100" y="0"/>
                    </a:lnTo>
                    <a:cubicBezTo>
                      <a:pt x="4725831" y="0"/>
                      <a:pt x="4819650" y="93819"/>
                      <a:pt x="4819650" y="209550"/>
                    </a:cubicBezTo>
                    <a:lnTo>
                      <a:pt x="4819650" y="838200"/>
                    </a:lnTo>
                    <a:cubicBezTo>
                      <a:pt x="4819650" y="953931"/>
                      <a:pt x="4725831" y="1047750"/>
                      <a:pt x="4610100" y="1047750"/>
                    </a:cubicBezTo>
                    <a:lnTo>
                      <a:pt x="209550" y="1047750"/>
                    </a:lnTo>
                    <a:cubicBezTo>
                      <a:pt x="93819" y="1047750"/>
                      <a:pt x="0" y="953931"/>
                      <a:pt x="0" y="838200"/>
                    </a:cubicBezTo>
                    <a:lnTo>
                      <a:pt x="0" y="209550"/>
                    </a:lnTo>
                    <a:cubicBezTo>
                      <a:pt x="0" y="93819"/>
                      <a:pt x="93819" y="0"/>
                      <a:pt x="209550" y="0"/>
                    </a:cubicBezTo>
                    <a:close/>
                  </a:path>
                </a:pathLst>
              </a:custGeom>
              <a:solidFill>
                <a:srgbClr val="0F2747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1028700" y="4191000"/>
                <a:ext cx="304800" cy="228600"/>
                <a:chOff x="1028700" y="4191000"/>
                <a:chExt cx="304800" cy="2286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1028700" y="4191000"/>
                  <a:ext cx="30480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95250">
                      <a:moveTo>
                        <a:pt x="304800" y="0"/>
                      </a:moveTo>
                      <a:lnTo>
                        <a:pt x="0" y="0"/>
                      </a:lnTo>
                      <a:lnTo>
                        <a:pt x="0" y="95250"/>
                      </a:lnTo>
                      <a:lnTo>
                        <a:pt x="304800" y="95250"/>
                      </a:lnTo>
                      <a:lnTo>
                        <a:pt x="304800" y="0"/>
                      </a:lnTo>
                      <a:close/>
                      <a:moveTo>
                        <a:pt x="76200" y="47625"/>
                      </a:moveTo>
                      <a:cubicBezTo>
                        <a:pt x="76200" y="58146"/>
                        <a:pt x="67671" y="66675"/>
                        <a:pt x="57150" y="66675"/>
                      </a:cubicBezTo>
                      <a:cubicBezTo>
                        <a:pt x="46629" y="66675"/>
                        <a:pt x="38100" y="58146"/>
                        <a:pt x="38100" y="47625"/>
                      </a:cubicBezTo>
                      <a:cubicBezTo>
                        <a:pt x="38100" y="37104"/>
                        <a:pt x="46629" y="28575"/>
                        <a:pt x="57150" y="28575"/>
                      </a:cubicBezTo>
                      <a:cubicBezTo>
                        <a:pt x="67671" y="28575"/>
                        <a:pt x="76200" y="37104"/>
                        <a:pt x="76200" y="476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028700" y="4324350"/>
                  <a:ext cx="30480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95250">
                      <a:moveTo>
                        <a:pt x="304800" y="0"/>
                      </a:moveTo>
                      <a:lnTo>
                        <a:pt x="0" y="0"/>
                      </a:lnTo>
                      <a:lnTo>
                        <a:pt x="0" y="95250"/>
                      </a:lnTo>
                      <a:lnTo>
                        <a:pt x="304800" y="95250"/>
                      </a:lnTo>
                      <a:lnTo>
                        <a:pt x="304800" y="0"/>
                      </a:lnTo>
                      <a:close/>
                      <a:moveTo>
                        <a:pt x="57150" y="66675"/>
                      </a:moveTo>
                      <a:cubicBezTo>
                        <a:pt x="67671" y="66675"/>
                        <a:pt x="76200" y="58146"/>
                        <a:pt x="76200" y="47625"/>
                      </a:cubicBezTo>
                      <a:cubicBezTo>
                        <a:pt x="76200" y="37104"/>
                        <a:pt x="67671" y="28575"/>
                        <a:pt x="57150" y="28575"/>
                      </a:cubicBezTo>
                      <a:cubicBezTo>
                        <a:pt x="46629" y="28575"/>
                        <a:pt x="38100" y="37104"/>
                        <a:pt x="38100" y="47625"/>
                      </a:cubicBezTo>
                      <a:cubicBezTo>
                        <a:pt x="38100" y="58146"/>
                        <a:pt x="46629" y="66675"/>
                        <a:pt x="57150" y="6667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463040" y="4168140"/>
                <a:ext cx="302689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Backend Service Layer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69708" y="4491514"/>
                <a:ext cx="6615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DCE7F5"/>
                    </a:solidFill>
                    <a:latin typeface="Arial"/>
                    <a:ea typeface="Microsoft YaHei"/>
                    <a:cs typeface="Arial"/>
                  </a:rPr>
                  <a:t>Kotlin + Spring Boot 3，承载认证鉴权、图书服务、同步、管理后台与扫描流程</a:t>
                </a:r>
              </a:p>
            </p:txBody>
          </p:sp>
        </p:grpSp>
        <p:sp>
          <p:nvSpPr>
            <p:cNvPr id="23" name="Line 23"/>
            <p:cNvSpPr/>
            <p:nvPr/>
          </p:nvSpPr>
          <p:spPr>
            <a:xfrm>
              <a:off x="3209925" y="4838700"/>
              <a:ext cx="1" cy="381000"/>
            </a:xfrm>
            <a:prstGeom prst="line">
              <a:avLst/>
            </a:prstGeom>
            <a:noFill/>
            <a:ln w="28575">
              <a:solidFill>
                <a:srgbClr val="1565C0"/>
              </a:solidFill>
              <a:tailEnd type="triangle" w="lg" len="lg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00100" y="5295900"/>
              <a:ext cx="7686327" cy="647700"/>
              <a:chOff x="800100" y="5295900"/>
              <a:chExt cx="7686327" cy="6477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00100" y="5295900"/>
                <a:ext cx="481965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819650" h="609600">
                    <a:moveTo>
                      <a:pt x="190500" y="0"/>
                    </a:moveTo>
                    <a:lnTo>
                      <a:pt x="4629150" y="0"/>
                    </a:lnTo>
                    <a:cubicBezTo>
                      <a:pt x="4734360" y="0"/>
                      <a:pt x="4819650" y="85290"/>
                      <a:pt x="4819650" y="190500"/>
                    </a:cubicBezTo>
                    <a:lnTo>
                      <a:pt x="4819650" y="419100"/>
                    </a:lnTo>
                    <a:cubicBezTo>
                      <a:pt x="4819650" y="524310"/>
                      <a:pt x="4734360" y="609600"/>
                      <a:pt x="4629150" y="609600"/>
                    </a:cubicBezTo>
                    <a:lnTo>
                      <a:pt x="190500" y="609600"/>
                    </a:lnTo>
                    <a:cubicBezTo>
                      <a:pt x="85290" y="609600"/>
                      <a:pt x="0" y="524310"/>
                      <a:pt x="0" y="419100"/>
                    </a:cubicBezTo>
                    <a:lnTo>
                      <a:pt x="0" y="190500"/>
                    </a:lnTo>
                    <a:cubicBezTo>
                      <a:pt x="0" y="85290"/>
                      <a:pt x="85290" y="0"/>
                      <a:pt x="190500" y="0"/>
                    </a:cubicBezTo>
                    <a:close/>
                  </a:path>
                </a:pathLst>
              </a:custGeom>
              <a:solidFill>
                <a:srgbClr val="E9EEF5"/>
              </a:solidFill>
              <a:ln>
                <a:noFill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1045369" y="5467350"/>
                <a:ext cx="233362" cy="250031"/>
                <a:chOff x="1045369" y="5467350"/>
                <a:chExt cx="233362" cy="250031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1078706" y="5467350"/>
                  <a:ext cx="16668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33338">
                      <a:moveTo>
                        <a:pt x="166688" y="0"/>
                      </a:moveTo>
                      <a:lnTo>
                        <a:pt x="0" y="0"/>
                      </a:lnTo>
                      <a:lnTo>
                        <a:pt x="0" y="33338"/>
                      </a:lnTo>
                      <a:lnTo>
                        <a:pt x="166688" y="33338"/>
                      </a:lnTo>
                      <a:lnTo>
                        <a:pt x="166688" y="0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062038" y="5534025"/>
                  <a:ext cx="200025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33338">
                      <a:moveTo>
                        <a:pt x="0" y="0"/>
                      </a:moveTo>
                      <a:lnTo>
                        <a:pt x="200025" y="0"/>
                      </a:lnTo>
                      <a:lnTo>
                        <a:pt x="200025" y="33338"/>
                      </a:lnTo>
                      <a:lnTo>
                        <a:pt x="0" y="333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045369" y="5600700"/>
                  <a:ext cx="233362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116681">
                      <a:moveTo>
                        <a:pt x="0" y="0"/>
                      </a:moveTo>
                      <a:lnTo>
                        <a:pt x="233362" y="0"/>
                      </a:lnTo>
                      <a:lnTo>
                        <a:pt x="233362" y="116681"/>
                      </a:lnTo>
                      <a:lnTo>
                        <a:pt x="0" y="11668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1392555" y="5454968"/>
                <a:ext cx="709387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2747"/>
                    </a:solidFill>
                    <a:latin typeface="Arial"/>
                    <a:ea typeface="Microsoft YaHei"/>
                    <a:cs typeface="Arial"/>
                  </a:rPr>
                  <a:t>Plugin + Infra Layer: plugin-api / plugin-epub / plugin-pdf / plugin-txt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394460" y="5699760"/>
                <a:ext cx="26681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678"/>
                    </a:solidFill>
                    <a:latin typeface="Arial"/>
                    <a:ea typeface="Microsoft YaHei"/>
                    <a:cs typeface="Arial"/>
                  </a:rPr>
                  <a:t>PostgreSQL / Redis / RabbitMQ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6324600" y="1695450"/>
            <a:ext cx="6257925" cy="4514850"/>
            <a:chOff x="6324600" y="1695450"/>
            <a:chExt cx="6257925" cy="4514850"/>
          </a:xfrm>
        </p:grpSpPr>
        <p:grpSp>
          <p:nvGrpSpPr>
            <p:cNvPr id="38" name="Group 38"/>
            <p:cNvGrpSpPr/>
            <p:nvPr/>
          </p:nvGrpSpPr>
          <p:grpSpPr>
            <a:xfrm>
              <a:off x="6324600" y="1695450"/>
              <a:ext cx="3151965" cy="2076450"/>
              <a:chOff x="6324600" y="1695450"/>
              <a:chExt cx="3151965" cy="207645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324600" y="1695450"/>
                <a:ext cx="2552700" cy="2076450"/>
              </a:xfrm>
              <a:custGeom>
                <a:avLst/>
                <a:gdLst/>
                <a:ahLst/>
                <a:cxnLst/>
                <a:rect l="l" t="t" r="r" b="b"/>
                <a:pathLst>
                  <a:path w="2552700" h="2076450">
                    <a:moveTo>
                      <a:pt x="228600" y="0"/>
                    </a:moveTo>
                    <a:lnTo>
                      <a:pt x="2324100" y="0"/>
                    </a:lnTo>
                    <a:cubicBezTo>
                      <a:pt x="2450352" y="0"/>
                      <a:pt x="2552700" y="102348"/>
                      <a:pt x="2552700" y="228600"/>
                    </a:cubicBezTo>
                    <a:lnTo>
                      <a:pt x="2552700" y="1847850"/>
                    </a:lnTo>
                    <a:cubicBezTo>
                      <a:pt x="2552700" y="1974102"/>
                      <a:pt x="2450352" y="2076450"/>
                      <a:pt x="2324100" y="2076450"/>
                    </a:cubicBezTo>
                    <a:lnTo>
                      <a:pt x="228600" y="2076450"/>
                    </a:lnTo>
                    <a:cubicBezTo>
                      <a:pt x="102348" y="2076450"/>
                      <a:pt x="0" y="1974102"/>
                      <a:pt x="0" y="1847850"/>
                    </a:cubicBezTo>
                    <a:lnTo>
                      <a:pt x="0" y="228600"/>
                    </a:ln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D6DDE8"/>
                </a:solidFill>
              </a:ln>
              <a:effectLst>
                <a:outerShdw blurRad="190500" dist="57150" dir="5400000" algn="ctr" rotWithShape="0">
                  <a:srgbClr val="5B6678">
                    <a:alpha val="12000"/>
                  </a:srgbClr>
                </a:outerShdw>
              </a:effectLst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630591" y="2000250"/>
                <a:ext cx="283369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323850">
                    <a:moveTo>
                      <a:pt x="67808" y="271081"/>
                    </a:moveTo>
                    <a:lnTo>
                      <a:pt x="141684" y="323850"/>
                    </a:lnTo>
                    <a:lnTo>
                      <a:pt x="215561" y="271081"/>
                    </a:lnTo>
                    <a:cubicBezTo>
                      <a:pt x="258115" y="240685"/>
                      <a:pt x="283369" y="191611"/>
                      <a:pt x="283369" y="139317"/>
                    </a:cubicBezTo>
                    <a:lnTo>
                      <a:pt x="283369" y="60722"/>
                    </a:lnTo>
                    <a:lnTo>
                      <a:pt x="141684" y="0"/>
                    </a:lnTo>
                    <a:lnTo>
                      <a:pt x="0" y="60722"/>
                    </a:lnTo>
                    <a:lnTo>
                      <a:pt x="0" y="139317"/>
                    </a:lnTo>
                    <a:cubicBezTo>
                      <a:pt x="0" y="191611"/>
                      <a:pt x="25255" y="240685"/>
                      <a:pt x="67808" y="271081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065645" y="2069782"/>
                <a:ext cx="164866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2747"/>
                    </a:solidFill>
                    <a:latin typeface="Arial"/>
                    <a:ea typeface="Microsoft YaHei"/>
                    <a:cs typeface="Arial"/>
                  </a:rPr>
                  <a:t>Native-ready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593205" y="2540318"/>
                <a:ext cx="28833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遵循 AOT 友好约束，避免运行时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593205" y="2807018"/>
                <a:ext cx="259746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动态插件发现与高反射依赖。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9124950" y="1695450"/>
              <a:ext cx="3289983" cy="2076450"/>
              <a:chOff x="9124950" y="1695450"/>
              <a:chExt cx="3289983" cy="207645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9124950" y="1695450"/>
                <a:ext cx="2552700" cy="2076450"/>
              </a:xfrm>
              <a:custGeom>
                <a:avLst/>
                <a:gdLst/>
                <a:ahLst/>
                <a:cxnLst/>
                <a:rect l="l" t="t" r="r" b="b"/>
                <a:pathLst>
                  <a:path w="2552700" h="2076450">
                    <a:moveTo>
                      <a:pt x="228600" y="0"/>
                    </a:moveTo>
                    <a:lnTo>
                      <a:pt x="2324100" y="0"/>
                    </a:lnTo>
                    <a:cubicBezTo>
                      <a:pt x="2450352" y="0"/>
                      <a:pt x="2552700" y="102348"/>
                      <a:pt x="2552700" y="228600"/>
                    </a:cubicBezTo>
                    <a:lnTo>
                      <a:pt x="2552700" y="1847850"/>
                    </a:lnTo>
                    <a:cubicBezTo>
                      <a:pt x="2552700" y="1974102"/>
                      <a:pt x="2450352" y="2076450"/>
                      <a:pt x="2324100" y="2076450"/>
                    </a:cubicBezTo>
                    <a:lnTo>
                      <a:pt x="228600" y="2076450"/>
                    </a:lnTo>
                    <a:cubicBezTo>
                      <a:pt x="102348" y="2076450"/>
                      <a:pt x="0" y="1974102"/>
                      <a:pt x="0" y="1847850"/>
                    </a:cubicBezTo>
                    <a:lnTo>
                      <a:pt x="0" y="228600"/>
                    </a:ln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D6DDE8"/>
                </a:solidFill>
              </a:ln>
              <a:effectLst>
                <a:outerShdw blurRad="190500" dist="57150" dir="5400000" algn="ctr" rotWithShape="0">
                  <a:srgbClr val="5B6678">
                    <a:alpha val="12000"/>
                  </a:srgbClr>
                </a:outerShdw>
              </a:effectLst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9410700" y="2040731"/>
                <a:ext cx="323850" cy="242888"/>
                <a:chOff x="9410700" y="2040731"/>
                <a:chExt cx="323850" cy="242888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9410700" y="2040731"/>
                  <a:ext cx="323850" cy="10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50" h="101203">
                      <a:moveTo>
                        <a:pt x="323850" y="0"/>
                      </a:moveTo>
                      <a:lnTo>
                        <a:pt x="0" y="0"/>
                      </a:lnTo>
                      <a:lnTo>
                        <a:pt x="0" y="101203"/>
                      </a:lnTo>
                      <a:lnTo>
                        <a:pt x="323850" y="101203"/>
                      </a:lnTo>
                      <a:lnTo>
                        <a:pt x="323850" y="0"/>
                      </a:lnTo>
                      <a:close/>
                      <a:moveTo>
                        <a:pt x="80962" y="50602"/>
                      </a:moveTo>
                      <a:cubicBezTo>
                        <a:pt x="80962" y="61780"/>
                        <a:pt x="71900" y="70842"/>
                        <a:pt x="60722" y="70842"/>
                      </a:cubicBezTo>
                      <a:cubicBezTo>
                        <a:pt x="49543" y="70842"/>
                        <a:pt x="40481" y="61780"/>
                        <a:pt x="40481" y="50602"/>
                      </a:cubicBezTo>
                      <a:cubicBezTo>
                        <a:pt x="40481" y="39423"/>
                        <a:pt x="49543" y="30361"/>
                        <a:pt x="60722" y="30361"/>
                      </a:cubicBezTo>
                      <a:cubicBezTo>
                        <a:pt x="71900" y="30361"/>
                        <a:pt x="80962" y="39423"/>
                        <a:pt x="80962" y="50602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9410700" y="2182416"/>
                  <a:ext cx="323850" cy="101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50" h="101203">
                      <a:moveTo>
                        <a:pt x="323850" y="0"/>
                      </a:moveTo>
                      <a:lnTo>
                        <a:pt x="0" y="0"/>
                      </a:lnTo>
                      <a:lnTo>
                        <a:pt x="0" y="101203"/>
                      </a:lnTo>
                      <a:lnTo>
                        <a:pt x="323850" y="101203"/>
                      </a:lnTo>
                      <a:lnTo>
                        <a:pt x="323850" y="0"/>
                      </a:lnTo>
                      <a:close/>
                      <a:moveTo>
                        <a:pt x="60722" y="70842"/>
                      </a:moveTo>
                      <a:cubicBezTo>
                        <a:pt x="71900" y="70842"/>
                        <a:pt x="80962" y="61780"/>
                        <a:pt x="80962" y="50602"/>
                      </a:cubicBezTo>
                      <a:cubicBezTo>
                        <a:pt x="80962" y="39423"/>
                        <a:pt x="71900" y="30361"/>
                        <a:pt x="60722" y="30361"/>
                      </a:cubicBezTo>
                      <a:cubicBezTo>
                        <a:pt x="49543" y="30361"/>
                        <a:pt x="40481" y="39423"/>
                        <a:pt x="40481" y="50602"/>
                      </a:cubicBezTo>
                      <a:cubicBezTo>
                        <a:pt x="40481" y="61780"/>
                        <a:pt x="49543" y="70842"/>
                        <a:pt x="60722" y="70842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9865995" y="2069782"/>
                <a:ext cx="156010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2747"/>
                    </a:solidFill>
                    <a:latin typeface="Arial"/>
                    <a:ea typeface="Microsoft YaHei"/>
                    <a:cs typeface="Arial"/>
                  </a:rPr>
                  <a:t>模块边界清晰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393555" y="2540318"/>
                <a:ext cx="302137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控制器、服务、SQL 存取和插件层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393555" y="2807018"/>
                <a:ext cx="24003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职责明确，便于后续演进。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6324600" y="4114800"/>
              <a:ext cx="3240691" cy="2095500"/>
              <a:chOff x="6324600" y="4114800"/>
              <a:chExt cx="3240691" cy="20955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324600" y="4114800"/>
                <a:ext cx="25527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2552700" h="2095500">
                    <a:moveTo>
                      <a:pt x="228600" y="0"/>
                    </a:moveTo>
                    <a:lnTo>
                      <a:pt x="2324100" y="0"/>
                    </a:lnTo>
                    <a:cubicBezTo>
                      <a:pt x="2450352" y="0"/>
                      <a:pt x="2552700" y="102348"/>
                      <a:pt x="2552700" y="228600"/>
                    </a:cubicBezTo>
                    <a:lnTo>
                      <a:pt x="2552700" y="1866900"/>
                    </a:lnTo>
                    <a:cubicBezTo>
                      <a:pt x="2552700" y="1993152"/>
                      <a:pt x="2450352" y="2095500"/>
                      <a:pt x="2324100" y="2095500"/>
                    </a:cubicBezTo>
                    <a:lnTo>
                      <a:pt x="228600" y="2095500"/>
                    </a:lnTo>
                    <a:cubicBezTo>
                      <a:pt x="102348" y="2095500"/>
                      <a:pt x="0" y="1993152"/>
                      <a:pt x="0" y="1866900"/>
                    </a:cubicBezTo>
                    <a:lnTo>
                      <a:pt x="0" y="228600"/>
                    </a:ln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D6DDE8"/>
                </a:solidFill>
              </a:ln>
              <a:effectLst>
                <a:outerShdw blurRad="190500" dist="57150" dir="5400000" algn="ctr" rotWithShape="0">
                  <a:srgbClr val="5B6678">
                    <a:alpha val="12000"/>
                  </a:srgbClr>
                </a:outerShdw>
              </a:effectLst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650831" y="4419600"/>
                <a:ext cx="242888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323850">
                    <a:moveTo>
                      <a:pt x="40481" y="0"/>
                    </a:moveTo>
                    <a:cubicBezTo>
                      <a:pt x="18124" y="0"/>
                      <a:pt x="0" y="18124"/>
                      <a:pt x="0" y="40481"/>
                    </a:cubicBezTo>
                    <a:lnTo>
                      <a:pt x="0" y="283369"/>
                    </a:lnTo>
                    <a:cubicBezTo>
                      <a:pt x="0" y="305727"/>
                      <a:pt x="18124" y="323850"/>
                      <a:pt x="40481" y="323850"/>
                    </a:cubicBezTo>
                    <a:lnTo>
                      <a:pt x="202406" y="323850"/>
                    </a:lnTo>
                    <a:cubicBezTo>
                      <a:pt x="224764" y="323850"/>
                      <a:pt x="242888" y="305727"/>
                      <a:pt x="242888" y="283369"/>
                    </a:cubicBezTo>
                    <a:lnTo>
                      <a:pt x="242888" y="40481"/>
                    </a:lnTo>
                    <a:cubicBezTo>
                      <a:pt x="242888" y="18124"/>
                      <a:pt x="224764" y="0"/>
                      <a:pt x="202406" y="0"/>
                    </a:cubicBezTo>
                    <a:lnTo>
                      <a:pt x="40481" y="0"/>
                    </a:lnTo>
                    <a:close/>
                    <a:moveTo>
                      <a:pt x="202406" y="60722"/>
                    </a:moveTo>
                    <a:lnTo>
                      <a:pt x="40481" y="60722"/>
                    </a:lnTo>
                    <a:lnTo>
                      <a:pt x="40481" y="263128"/>
                    </a:lnTo>
                    <a:lnTo>
                      <a:pt x="202406" y="263128"/>
                    </a:lnTo>
                    <a:lnTo>
                      <a:pt x="202406" y="60722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065645" y="4489132"/>
                <a:ext cx="156010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2747"/>
                    </a:solidFill>
                    <a:latin typeface="Arial"/>
                    <a:ea typeface="Microsoft YaHei"/>
                    <a:cs typeface="Arial"/>
                  </a:rPr>
                  <a:t>统一前端路线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593205" y="4959668"/>
                <a:ext cx="29720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Flutter 既是当前主端工程，也是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593205" y="5226368"/>
                <a:ext cx="296222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后续 Web/Desktop 收敛的基座。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9124950" y="4114800"/>
              <a:ext cx="3457575" cy="2095500"/>
              <a:chOff x="9124950" y="4114800"/>
              <a:chExt cx="3457575" cy="20955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9124950" y="4114800"/>
                <a:ext cx="25527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2552700" h="2095500">
                    <a:moveTo>
                      <a:pt x="228600" y="0"/>
                    </a:moveTo>
                    <a:lnTo>
                      <a:pt x="2324100" y="0"/>
                    </a:lnTo>
                    <a:cubicBezTo>
                      <a:pt x="2450352" y="0"/>
                      <a:pt x="2552700" y="102348"/>
                      <a:pt x="2552700" y="228600"/>
                    </a:cubicBezTo>
                    <a:lnTo>
                      <a:pt x="2552700" y="1866900"/>
                    </a:lnTo>
                    <a:cubicBezTo>
                      <a:pt x="2552700" y="1993152"/>
                      <a:pt x="2450352" y="2095500"/>
                      <a:pt x="2324100" y="2095500"/>
                    </a:cubicBezTo>
                    <a:lnTo>
                      <a:pt x="228600" y="2095500"/>
                    </a:lnTo>
                    <a:cubicBezTo>
                      <a:pt x="102348" y="2095500"/>
                      <a:pt x="0" y="1993152"/>
                      <a:pt x="0" y="1866900"/>
                    </a:cubicBezTo>
                    <a:lnTo>
                      <a:pt x="0" y="228600"/>
                    </a:ln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D6DDE8"/>
                </a:solidFill>
              </a:ln>
              <a:effectLst>
                <a:outerShdw blurRad="190500" dist="57150" dir="5400000" algn="ctr" rotWithShape="0">
                  <a:srgbClr val="5B6678">
                    <a:alpha val="12000"/>
                  </a:srgbClr>
                </a:outerShdw>
              </a:effectLst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451181" y="4419600"/>
                <a:ext cx="242888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323850">
                    <a:moveTo>
                      <a:pt x="60722" y="232767"/>
                    </a:moveTo>
                    <a:lnTo>
                      <a:pt x="60722" y="293489"/>
                    </a:lnTo>
                    <a:lnTo>
                      <a:pt x="91083" y="323850"/>
                    </a:lnTo>
                    <a:lnTo>
                      <a:pt x="151805" y="323850"/>
                    </a:lnTo>
                    <a:lnTo>
                      <a:pt x="182166" y="293489"/>
                    </a:lnTo>
                    <a:lnTo>
                      <a:pt x="182166" y="232767"/>
                    </a:lnTo>
                    <a:lnTo>
                      <a:pt x="207256" y="207677"/>
                    </a:lnTo>
                    <a:cubicBezTo>
                      <a:pt x="230071" y="184862"/>
                      <a:pt x="242888" y="153857"/>
                      <a:pt x="242888" y="121593"/>
                    </a:cubicBezTo>
                    <a:cubicBezTo>
                      <a:pt x="242888" y="54521"/>
                      <a:pt x="188515" y="0"/>
                      <a:pt x="121444" y="0"/>
                    </a:cubicBezTo>
                    <a:cubicBezTo>
                      <a:pt x="54372" y="0"/>
                      <a:pt x="0" y="54521"/>
                      <a:pt x="0" y="121593"/>
                    </a:cubicBezTo>
                    <a:cubicBezTo>
                      <a:pt x="0" y="153857"/>
                      <a:pt x="12817" y="184862"/>
                      <a:pt x="35632" y="207677"/>
                    </a:cubicBezTo>
                    <a:lnTo>
                      <a:pt x="60722" y="232767"/>
                    </a:lnTo>
                    <a:close/>
                    <a:moveTo>
                      <a:pt x="101203" y="199856"/>
                    </a:moveTo>
                    <a:lnTo>
                      <a:pt x="101203" y="121444"/>
                    </a:lnTo>
                    <a:lnTo>
                      <a:pt x="141684" y="121444"/>
                    </a:lnTo>
                    <a:lnTo>
                      <a:pt x="141684" y="199856"/>
                    </a:lnTo>
                    <a:cubicBezTo>
                      <a:pt x="176604" y="190868"/>
                      <a:pt x="202406" y="159169"/>
                      <a:pt x="202406" y="121444"/>
                    </a:cubicBezTo>
                    <a:cubicBezTo>
                      <a:pt x="202406" y="76729"/>
                      <a:pt x="166157" y="40481"/>
                      <a:pt x="121444" y="40481"/>
                    </a:cubicBezTo>
                    <a:cubicBezTo>
                      <a:pt x="76729" y="40481"/>
                      <a:pt x="40481" y="76729"/>
                      <a:pt x="40481" y="121444"/>
                    </a:cubicBezTo>
                    <a:cubicBezTo>
                      <a:pt x="40481" y="159169"/>
                      <a:pt x="66283" y="190868"/>
                      <a:pt x="101203" y="199856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865995" y="4489132"/>
                <a:ext cx="206616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2747"/>
                    </a:solidFill>
                    <a:latin typeface="Arial"/>
                    <a:ea typeface="Microsoft YaHei"/>
                    <a:cs typeface="Arial"/>
                  </a:rPr>
                  <a:t>为长期平台化留白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393555" y="4959668"/>
                <a:ext cx="29918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当前先交付核心路径，未来再扩展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9393555" y="5226368"/>
                <a:ext cx="318897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跨端适配、统计审计与工作流能力。</a:t>
                </a:r>
              </a:p>
            </p:txBody>
          </p:sp>
        </p:grpSp>
      </p:grpSp>
      <p:sp>
        <p:nvSpPr>
          <p:cNvPr id="60" name="TextBox 60"/>
          <p:cNvSpPr txBox="1"/>
          <p:nvPr/>
        </p:nvSpPr>
        <p:spPr>
          <a:xfrm>
            <a:off x="502920" y="6446520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3A3"/>
                </a:solidFill>
                <a:latin typeface="Arial"/>
                <a:ea typeface="Microsoft YaHei"/>
                <a:cs typeface="Arial"/>
              </a:rPr>
              <a:t>Source: docs/后端架构文档.md, docs/Flutter应用架构文档.md, README.md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14350" y="3810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0565" y="372428"/>
            <a:ext cx="831590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2747"/>
                </a:solidFill>
                <a:latin typeface="Arial"/>
                <a:ea typeface="Microsoft YaHei"/>
                <a:cs typeface="Arial"/>
              </a:rPr>
              <a:t>阶段一已达到“可提交、可继续演进”的交付状态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47977" y="5343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93A3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876300"/>
            <a:ext cx="11163300" cy="514350"/>
          </a:xfrm>
          <a:custGeom>
            <a:avLst/>
            <a:gdLst/>
            <a:ahLst/>
            <a:cxnLst/>
            <a:rect l="l" t="t" r="r" b="b"/>
            <a:pathLst>
              <a:path w="11163300" h="514350">
                <a:moveTo>
                  <a:pt x="152400" y="0"/>
                </a:moveTo>
                <a:lnTo>
                  <a:pt x="11010900" y="0"/>
                </a:lnTo>
                <a:cubicBezTo>
                  <a:pt x="11095068" y="0"/>
                  <a:pt x="11163300" y="68232"/>
                  <a:pt x="11163300" y="152400"/>
                </a:cubicBezTo>
                <a:lnTo>
                  <a:pt x="11163300" y="361950"/>
                </a:lnTo>
                <a:cubicBezTo>
                  <a:pt x="11163300" y="446118"/>
                  <a:pt x="11095068" y="514350"/>
                  <a:pt x="11010900" y="514350"/>
                </a:cubicBezTo>
                <a:lnTo>
                  <a:pt x="152400" y="514350"/>
                </a:lnTo>
                <a:cubicBezTo>
                  <a:pt x="68232" y="514350"/>
                  <a:pt x="0" y="446118"/>
                  <a:pt x="0" y="3619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E9EEF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1054418"/>
            <a:ext cx="77238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2433"/>
                </a:solidFill>
                <a:latin typeface="Arial"/>
                <a:ea typeface="Microsoft YaHei"/>
                <a:cs typeface="Arial"/>
              </a:rPr>
              <a:t>当前基线足以用于演示、评审和后续投资判断，且后续方向已经明确，不存在主线摇摆。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14350" y="1714500"/>
            <a:ext cx="12647295" cy="1714500"/>
            <a:chOff x="514350" y="1714500"/>
            <a:chExt cx="12647295" cy="1714500"/>
          </a:xfrm>
        </p:grpSpPr>
        <p:grpSp>
          <p:nvGrpSpPr>
            <p:cNvPr id="12" name="Group 12"/>
            <p:cNvGrpSpPr/>
            <p:nvPr/>
          </p:nvGrpSpPr>
          <p:grpSpPr>
            <a:xfrm>
              <a:off x="514350" y="1714500"/>
              <a:ext cx="2552700" cy="1714500"/>
              <a:chOff x="514350" y="1714500"/>
              <a:chExt cx="2552700" cy="17145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514350" y="1714500"/>
                <a:ext cx="255270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2552700" h="1714500">
                    <a:moveTo>
                      <a:pt x="228600" y="0"/>
                    </a:moveTo>
                    <a:lnTo>
                      <a:pt x="2324100" y="0"/>
                    </a:lnTo>
                    <a:cubicBezTo>
                      <a:pt x="2450352" y="0"/>
                      <a:pt x="2552700" y="102348"/>
                      <a:pt x="2552700" y="228600"/>
                    </a:cubicBezTo>
                    <a:lnTo>
                      <a:pt x="2552700" y="1485900"/>
                    </a:lnTo>
                    <a:cubicBezTo>
                      <a:pt x="2552700" y="1612152"/>
                      <a:pt x="2450352" y="1714500"/>
                      <a:pt x="2324100" y="1714500"/>
                    </a:cubicBezTo>
                    <a:lnTo>
                      <a:pt x="228600" y="1714500"/>
                    </a:lnTo>
                    <a:cubicBezTo>
                      <a:pt x="102348" y="1714500"/>
                      <a:pt x="0" y="1612152"/>
                      <a:pt x="0" y="1485900"/>
                    </a:cubicBezTo>
                    <a:lnTo>
                      <a:pt x="0" y="228600"/>
                    </a:ln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D6DDE8"/>
                </a:solidFill>
              </a:ln>
              <a:effectLst>
                <a:outerShdw blurRad="190500" dist="57150" dir="5400000" algn="ctr" rotWithShape="0">
                  <a:srgbClr val="5B6678">
                    <a:alpha val="12000"/>
                  </a:srgbClr>
                </a:outerShdw>
              </a:effectLst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58190" y="1986915"/>
                <a:ext cx="362155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0F2747"/>
                    </a:solidFill>
                    <a:latin typeface="Georgia"/>
                    <a:ea typeface="SimSun"/>
                    <a:cs typeface="Georgia"/>
                  </a:rPr>
                  <a:t>3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7240" y="2510790"/>
                <a:ext cx="197796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2747"/>
                    </a:solidFill>
                    <a:latin typeface="Arial"/>
                    <a:ea typeface="Microsoft YaHei"/>
                    <a:cs typeface="Arial"/>
                  </a:rPr>
                  <a:t>已集成格式插件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82955" y="2902268"/>
                <a:ext cx="157219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TXT / EPUB / PDF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314700" y="1714500"/>
              <a:ext cx="3122390" cy="1714500"/>
              <a:chOff x="3314700" y="1714500"/>
              <a:chExt cx="3122390" cy="17145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314700" y="1714500"/>
                <a:ext cx="255270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2552700" h="1714500">
                    <a:moveTo>
                      <a:pt x="228600" y="0"/>
                    </a:moveTo>
                    <a:lnTo>
                      <a:pt x="2324100" y="0"/>
                    </a:lnTo>
                    <a:cubicBezTo>
                      <a:pt x="2450352" y="0"/>
                      <a:pt x="2552700" y="102348"/>
                      <a:pt x="2552700" y="228600"/>
                    </a:cubicBezTo>
                    <a:lnTo>
                      <a:pt x="2552700" y="1485900"/>
                    </a:lnTo>
                    <a:cubicBezTo>
                      <a:pt x="2552700" y="1612152"/>
                      <a:pt x="2450352" y="1714500"/>
                      <a:pt x="2324100" y="1714500"/>
                    </a:cubicBezTo>
                    <a:lnTo>
                      <a:pt x="228600" y="1714500"/>
                    </a:lnTo>
                    <a:cubicBezTo>
                      <a:pt x="102348" y="1714500"/>
                      <a:pt x="0" y="1612152"/>
                      <a:pt x="0" y="1485900"/>
                    </a:cubicBezTo>
                    <a:lnTo>
                      <a:pt x="0" y="228600"/>
                    </a:ln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D6DDE8"/>
                </a:solidFill>
              </a:ln>
              <a:effectLst>
                <a:outerShdw blurRad="190500" dist="57150" dir="5400000" algn="ctr" rotWithShape="0">
                  <a:srgbClr val="5B6678">
                    <a:alpha val="12000"/>
                  </a:srgbClr>
                </a:outerShdw>
              </a:effectLst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558540" y="1986915"/>
                <a:ext cx="362155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0F2747"/>
                    </a:solidFill>
                    <a:latin typeface="Georgia"/>
                    <a:ea typeface="SimSun"/>
                    <a:cs typeface="Georgia"/>
                  </a:rPr>
                  <a:t>3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77590" y="2510790"/>
                <a:ext cx="197796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2747"/>
                    </a:solidFill>
                    <a:latin typeface="Arial"/>
                    <a:ea typeface="Microsoft YaHei"/>
                    <a:cs typeface="Arial"/>
                  </a:rPr>
                  <a:t>角色体系已跑通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583305" y="2902268"/>
                <a:ext cx="285378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普通用户 / 管理员 / 超级管理员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115050" y="1714500"/>
              <a:ext cx="3457575" cy="1714500"/>
              <a:chOff x="6115050" y="1714500"/>
              <a:chExt cx="3457575" cy="17145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115050" y="1714500"/>
                <a:ext cx="255270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2552700" h="1714500">
                    <a:moveTo>
                      <a:pt x="228600" y="0"/>
                    </a:moveTo>
                    <a:lnTo>
                      <a:pt x="2324100" y="0"/>
                    </a:lnTo>
                    <a:cubicBezTo>
                      <a:pt x="2450352" y="0"/>
                      <a:pt x="2552700" y="102348"/>
                      <a:pt x="2552700" y="228600"/>
                    </a:cubicBezTo>
                    <a:lnTo>
                      <a:pt x="2552700" y="1485900"/>
                    </a:lnTo>
                    <a:cubicBezTo>
                      <a:pt x="2552700" y="1612152"/>
                      <a:pt x="2450352" y="1714500"/>
                      <a:pt x="2324100" y="1714500"/>
                    </a:cubicBezTo>
                    <a:lnTo>
                      <a:pt x="228600" y="1714500"/>
                    </a:lnTo>
                    <a:cubicBezTo>
                      <a:pt x="102348" y="1714500"/>
                      <a:pt x="0" y="1612152"/>
                      <a:pt x="0" y="1485900"/>
                    </a:cubicBezTo>
                    <a:lnTo>
                      <a:pt x="0" y="228600"/>
                    </a:ln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D6DDE8"/>
                </a:solidFill>
              </a:ln>
              <a:effectLst>
                <a:outerShdw blurRad="190500" dist="57150" dir="5400000" algn="ctr" rotWithShape="0">
                  <a:srgbClr val="5B6678">
                    <a:alpha val="12000"/>
                  </a:srgbClr>
                </a:outerShdw>
              </a:effectLst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358890" y="1986915"/>
                <a:ext cx="362155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0F2747"/>
                    </a:solidFill>
                    <a:latin typeface="Georgia"/>
                    <a:ea typeface="SimSun"/>
                    <a:cs typeface="Georgia"/>
                  </a:rPr>
                  <a:t>5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377940" y="2510790"/>
                <a:ext cx="170192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2747"/>
                    </a:solidFill>
                    <a:latin typeface="Arial"/>
                    <a:ea typeface="Microsoft YaHei"/>
                    <a:cs typeface="Arial"/>
                  </a:rPr>
                  <a:t>后台分区可用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383655" y="2902268"/>
                <a:ext cx="318897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2433"/>
                    </a:solidFill>
                    <a:latin typeface="Arial"/>
                    <a:ea typeface="Microsoft YaHei"/>
                    <a:cs typeface="Arial"/>
                  </a:rPr>
                  <a:t>用户、角色、书籍、批注、资源扫描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8915400" y="1714500"/>
              <a:ext cx="4246245" cy="1714500"/>
              <a:chOff x="8915400" y="1714500"/>
              <a:chExt cx="4246245" cy="17145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915400" y="1714500"/>
                <a:ext cx="276225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2762250" h="1714500">
                    <a:moveTo>
                      <a:pt x="228600" y="0"/>
                    </a:moveTo>
                    <a:lnTo>
                      <a:pt x="2533650" y="0"/>
                    </a:lnTo>
                    <a:cubicBezTo>
                      <a:pt x="2659902" y="0"/>
                      <a:pt x="2762250" y="102348"/>
                      <a:pt x="2762250" y="228600"/>
                    </a:cubicBezTo>
                    <a:lnTo>
                      <a:pt x="2762250" y="1485900"/>
                    </a:lnTo>
                    <a:cubicBezTo>
                      <a:pt x="2762250" y="1612152"/>
                      <a:pt x="2659902" y="1714500"/>
                      <a:pt x="2533650" y="1714500"/>
                    </a:cubicBezTo>
                    <a:lnTo>
                      <a:pt x="228600" y="1714500"/>
                    </a:lnTo>
                    <a:cubicBezTo>
                      <a:pt x="102348" y="1714500"/>
                      <a:pt x="0" y="1612152"/>
                      <a:pt x="0" y="1485900"/>
                    </a:cubicBezTo>
                    <a:lnTo>
                      <a:pt x="0" y="228600"/>
                    </a:ln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0F2747"/>
              </a:solidFill>
              <a:ln>
                <a:noFill/>
              </a:ln>
              <a:effectLst>
                <a:outerShdw blurRad="190500" dist="57150" dir="5400000" algn="ctr" rotWithShape="0">
                  <a:srgbClr val="5B6678">
                    <a:alpha val="12000"/>
                  </a:srgbClr>
                </a:outerShdw>
              </a:effectLst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207079" y="2099072"/>
                <a:ext cx="317921" cy="196478"/>
              </a:xfrm>
              <a:custGeom>
                <a:avLst/>
                <a:gdLst/>
                <a:ahLst/>
                <a:cxnLst/>
                <a:rect l="l" t="t" r="r" b="b"/>
                <a:pathLst>
                  <a:path w="317921" h="196478">
                    <a:moveTo>
                      <a:pt x="196478" y="0"/>
                    </a:moveTo>
                    <a:lnTo>
                      <a:pt x="176237" y="20241"/>
                    </a:lnTo>
                    <a:lnTo>
                      <a:pt x="222647" y="66650"/>
                    </a:lnTo>
                    <a:lnTo>
                      <a:pt x="166117" y="123180"/>
                    </a:lnTo>
                    <a:lnTo>
                      <a:pt x="105395" y="62458"/>
                    </a:lnTo>
                    <a:lnTo>
                      <a:pt x="0" y="167853"/>
                    </a:lnTo>
                    <a:lnTo>
                      <a:pt x="28625" y="196478"/>
                    </a:lnTo>
                    <a:lnTo>
                      <a:pt x="105395" y="119707"/>
                    </a:lnTo>
                    <a:lnTo>
                      <a:pt x="166117" y="180429"/>
                    </a:lnTo>
                    <a:lnTo>
                      <a:pt x="251271" y="95275"/>
                    </a:lnTo>
                    <a:lnTo>
                      <a:pt x="297681" y="141684"/>
                    </a:lnTo>
                    <a:lnTo>
                      <a:pt x="317921" y="121444"/>
                    </a:lnTo>
                    <a:lnTo>
                      <a:pt x="317921" y="0"/>
                    </a:lnTo>
                    <a:lnTo>
                      <a:pt x="1964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654540" y="2091690"/>
                <a:ext cx="170192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主线已经收敛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184005" y="2578418"/>
                <a:ext cx="259746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DCE7F5"/>
                    </a:solidFill>
                    <a:latin typeface="Arial"/>
                    <a:ea typeface="Microsoft YaHei"/>
                    <a:cs typeface="Arial"/>
                  </a:rPr>
                  <a:t>第一阶段交付重心明确锁定在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184005" y="2845118"/>
                <a:ext cx="39776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DCE7F5"/>
                    </a:solidFill>
                    <a:latin typeface="Arial"/>
                    <a:ea typeface="Microsoft YaHei"/>
                    <a:cs typeface="Arial"/>
                  </a:rPr>
                  <a:t>backend + mobile，而不是继续双前端并进。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14350" y="3810000"/>
            <a:ext cx="11163300" cy="2400300"/>
            <a:chOff x="514350" y="3810000"/>
            <a:chExt cx="11163300" cy="2400300"/>
          </a:xfrm>
        </p:grpSpPr>
        <p:sp>
          <p:nvSpPr>
            <p:cNvPr id="30" name="Freeform 30"/>
            <p:cNvSpPr/>
            <p:nvPr/>
          </p:nvSpPr>
          <p:spPr>
            <a:xfrm>
              <a:off x="514350" y="3810000"/>
              <a:ext cx="5143500" cy="2400300"/>
            </a:xfrm>
            <a:custGeom>
              <a:avLst/>
              <a:gdLst/>
              <a:ahLst/>
              <a:cxnLst/>
              <a:rect l="l" t="t" r="r" b="b"/>
              <a:pathLst>
                <a:path w="5143500" h="2400300">
                  <a:moveTo>
                    <a:pt x="266700" y="0"/>
                  </a:moveTo>
                  <a:lnTo>
                    <a:pt x="4876800" y="0"/>
                  </a:lnTo>
                  <a:cubicBezTo>
                    <a:pt x="5024094" y="0"/>
                    <a:pt x="5143500" y="119406"/>
                    <a:pt x="5143500" y="266700"/>
                  </a:cubicBezTo>
                  <a:lnTo>
                    <a:pt x="5143500" y="2133600"/>
                  </a:lnTo>
                  <a:cubicBezTo>
                    <a:pt x="5143500" y="2280894"/>
                    <a:pt x="5024094" y="2400300"/>
                    <a:pt x="4876800" y="2400300"/>
                  </a:cubicBezTo>
                  <a:lnTo>
                    <a:pt x="266700" y="2400300"/>
                  </a:lnTo>
                  <a:cubicBezTo>
                    <a:pt x="119406" y="2400300"/>
                    <a:pt x="0" y="2280894"/>
                    <a:pt x="0" y="2133600"/>
                  </a:cubicBezTo>
                  <a:lnTo>
                    <a:pt x="0" y="266700"/>
                  </a:ln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6DDE8"/>
              </a:solidFill>
            </a:ln>
            <a:effectLst>
              <a:outerShdw blurRad="190500" dist="57150" dir="5400000" algn="ctr" rotWithShape="0">
                <a:srgbClr val="5B6678">
                  <a:alpha val="12000"/>
                </a:srgbClr>
              </a:outerShdw>
            </a:effectLst>
          </p:spPr>
        </p:sp>
        <p:sp>
          <p:nvSpPr>
            <p:cNvPr id="31" name="TextBox 31"/>
            <p:cNvSpPr txBox="1"/>
            <p:nvPr/>
          </p:nvSpPr>
          <p:spPr>
            <a:xfrm>
              <a:off x="796290" y="4034790"/>
              <a:ext cx="2253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已形成的阶段成果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838200" y="45148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09402" y="74908"/>
                  </a:moveTo>
                  <a:cubicBezTo>
                    <a:pt x="221089" y="84062"/>
                    <a:pt x="228600" y="98304"/>
                    <a:pt x="228600" y="114300"/>
                  </a:cubicBezTo>
                  <a:cubicBezTo>
                    <a:pt x="228600" y="130297"/>
                    <a:pt x="221089" y="144539"/>
                    <a:pt x="209400" y="153693"/>
                  </a:cubicBezTo>
                  <a:cubicBezTo>
                    <a:pt x="211192" y="168430"/>
                    <a:pt x="206433" y="183812"/>
                    <a:pt x="195122" y="195123"/>
                  </a:cubicBezTo>
                  <a:cubicBezTo>
                    <a:pt x="183810" y="206434"/>
                    <a:pt x="168428" y="211194"/>
                    <a:pt x="153692" y="209402"/>
                  </a:cubicBezTo>
                  <a:cubicBezTo>
                    <a:pt x="144538" y="221089"/>
                    <a:pt x="130296" y="228600"/>
                    <a:pt x="114300" y="228600"/>
                  </a:cubicBezTo>
                  <a:cubicBezTo>
                    <a:pt x="98303" y="228600"/>
                    <a:pt x="84061" y="221089"/>
                    <a:pt x="74908" y="209400"/>
                  </a:cubicBezTo>
                  <a:cubicBezTo>
                    <a:pt x="60171" y="211194"/>
                    <a:pt x="44789" y="206433"/>
                    <a:pt x="33477" y="195122"/>
                  </a:cubicBezTo>
                  <a:cubicBezTo>
                    <a:pt x="22166" y="183812"/>
                    <a:pt x="17406" y="168430"/>
                    <a:pt x="19198" y="153692"/>
                  </a:cubicBezTo>
                  <a:cubicBezTo>
                    <a:pt x="7511" y="144538"/>
                    <a:pt x="0" y="130296"/>
                    <a:pt x="0" y="114300"/>
                  </a:cubicBezTo>
                  <a:cubicBezTo>
                    <a:pt x="0" y="98303"/>
                    <a:pt x="7511" y="84061"/>
                    <a:pt x="19199" y="74908"/>
                  </a:cubicBezTo>
                  <a:cubicBezTo>
                    <a:pt x="17407" y="60171"/>
                    <a:pt x="22167" y="44789"/>
                    <a:pt x="33478" y="33477"/>
                  </a:cubicBezTo>
                  <a:cubicBezTo>
                    <a:pt x="44789" y="22166"/>
                    <a:pt x="60171" y="17406"/>
                    <a:pt x="74908" y="19198"/>
                  </a:cubicBezTo>
                  <a:cubicBezTo>
                    <a:pt x="84062" y="7511"/>
                    <a:pt x="98304" y="0"/>
                    <a:pt x="114300" y="0"/>
                  </a:cubicBezTo>
                  <a:cubicBezTo>
                    <a:pt x="130297" y="0"/>
                    <a:pt x="144539" y="7511"/>
                    <a:pt x="153693" y="19200"/>
                  </a:cubicBezTo>
                  <a:cubicBezTo>
                    <a:pt x="168430" y="17408"/>
                    <a:pt x="183812" y="22167"/>
                    <a:pt x="195123" y="33478"/>
                  </a:cubicBezTo>
                  <a:cubicBezTo>
                    <a:pt x="206434" y="44790"/>
                    <a:pt x="211194" y="60171"/>
                    <a:pt x="209402" y="74908"/>
                  </a:cubicBezTo>
                  <a:close/>
                  <a:moveTo>
                    <a:pt x="174409" y="88684"/>
                  </a:moveTo>
                  <a:lnTo>
                    <a:pt x="154204" y="68478"/>
                  </a:lnTo>
                  <a:lnTo>
                    <a:pt x="100012" y="122669"/>
                  </a:lnTo>
                  <a:lnTo>
                    <a:pt x="74397" y="97053"/>
                  </a:lnTo>
                  <a:lnTo>
                    <a:pt x="54191" y="117259"/>
                  </a:lnTo>
                  <a:lnTo>
                    <a:pt x="100012" y="163080"/>
                  </a:lnTo>
                  <a:lnTo>
                    <a:pt x="174409" y="88684"/>
                  </a:lnTo>
                  <a:close/>
                </a:path>
              </a:pathLst>
            </a:custGeom>
            <a:solidFill>
              <a:srgbClr val="2E8B5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83005" y="4540568"/>
              <a:ext cx="37607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Flutter 后台管理中心可在移动端落地使用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38200" y="4933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09402" y="74908"/>
                  </a:moveTo>
                  <a:cubicBezTo>
                    <a:pt x="221089" y="84062"/>
                    <a:pt x="228600" y="98304"/>
                    <a:pt x="228600" y="114300"/>
                  </a:cubicBezTo>
                  <a:cubicBezTo>
                    <a:pt x="228600" y="130297"/>
                    <a:pt x="221089" y="144539"/>
                    <a:pt x="209400" y="153693"/>
                  </a:cubicBezTo>
                  <a:cubicBezTo>
                    <a:pt x="211192" y="168430"/>
                    <a:pt x="206433" y="183812"/>
                    <a:pt x="195122" y="195123"/>
                  </a:cubicBezTo>
                  <a:cubicBezTo>
                    <a:pt x="183810" y="206434"/>
                    <a:pt x="168428" y="211194"/>
                    <a:pt x="153692" y="209402"/>
                  </a:cubicBezTo>
                  <a:cubicBezTo>
                    <a:pt x="144538" y="221089"/>
                    <a:pt x="130296" y="228600"/>
                    <a:pt x="114300" y="228600"/>
                  </a:cubicBezTo>
                  <a:cubicBezTo>
                    <a:pt x="98303" y="228600"/>
                    <a:pt x="84061" y="221089"/>
                    <a:pt x="74908" y="209400"/>
                  </a:cubicBezTo>
                  <a:cubicBezTo>
                    <a:pt x="60171" y="211194"/>
                    <a:pt x="44789" y="206433"/>
                    <a:pt x="33477" y="195122"/>
                  </a:cubicBezTo>
                  <a:cubicBezTo>
                    <a:pt x="22166" y="183812"/>
                    <a:pt x="17406" y="168430"/>
                    <a:pt x="19198" y="153692"/>
                  </a:cubicBezTo>
                  <a:cubicBezTo>
                    <a:pt x="7511" y="144538"/>
                    <a:pt x="0" y="130296"/>
                    <a:pt x="0" y="114300"/>
                  </a:cubicBezTo>
                  <a:cubicBezTo>
                    <a:pt x="0" y="98303"/>
                    <a:pt x="7511" y="84061"/>
                    <a:pt x="19199" y="74908"/>
                  </a:cubicBezTo>
                  <a:cubicBezTo>
                    <a:pt x="17407" y="60171"/>
                    <a:pt x="22167" y="44789"/>
                    <a:pt x="33478" y="33477"/>
                  </a:cubicBezTo>
                  <a:cubicBezTo>
                    <a:pt x="44789" y="22166"/>
                    <a:pt x="60171" y="17406"/>
                    <a:pt x="74908" y="19198"/>
                  </a:cubicBezTo>
                  <a:cubicBezTo>
                    <a:pt x="84062" y="7511"/>
                    <a:pt x="98304" y="0"/>
                    <a:pt x="114300" y="0"/>
                  </a:cubicBezTo>
                  <a:cubicBezTo>
                    <a:pt x="130297" y="0"/>
                    <a:pt x="144539" y="7511"/>
                    <a:pt x="153693" y="19200"/>
                  </a:cubicBezTo>
                  <a:cubicBezTo>
                    <a:pt x="168430" y="17408"/>
                    <a:pt x="183812" y="22167"/>
                    <a:pt x="195123" y="33478"/>
                  </a:cubicBezTo>
                  <a:cubicBezTo>
                    <a:pt x="206434" y="44790"/>
                    <a:pt x="211194" y="60171"/>
                    <a:pt x="209402" y="74908"/>
                  </a:cubicBezTo>
                  <a:close/>
                  <a:moveTo>
                    <a:pt x="174409" y="88684"/>
                  </a:moveTo>
                  <a:lnTo>
                    <a:pt x="154204" y="68478"/>
                  </a:lnTo>
                  <a:lnTo>
                    <a:pt x="100012" y="122669"/>
                  </a:lnTo>
                  <a:lnTo>
                    <a:pt x="74397" y="97053"/>
                  </a:lnTo>
                  <a:lnTo>
                    <a:pt x="54191" y="117259"/>
                  </a:lnTo>
                  <a:lnTo>
                    <a:pt x="100012" y="163080"/>
                  </a:lnTo>
                  <a:lnTo>
                    <a:pt x="174409" y="88684"/>
                  </a:lnTo>
                  <a:close/>
                </a:path>
              </a:pathLst>
            </a:custGeom>
            <a:solidFill>
              <a:srgbClr val="2E8B5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83005" y="4959668"/>
              <a:ext cx="42142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WebDAV 资源扫描打通“配置 - 扫描 - 入库”链路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838200" y="53530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09402" y="74908"/>
                  </a:moveTo>
                  <a:cubicBezTo>
                    <a:pt x="221089" y="84062"/>
                    <a:pt x="228600" y="98304"/>
                    <a:pt x="228600" y="114300"/>
                  </a:cubicBezTo>
                  <a:cubicBezTo>
                    <a:pt x="228600" y="130297"/>
                    <a:pt x="221089" y="144539"/>
                    <a:pt x="209400" y="153693"/>
                  </a:cubicBezTo>
                  <a:cubicBezTo>
                    <a:pt x="211192" y="168430"/>
                    <a:pt x="206433" y="183812"/>
                    <a:pt x="195122" y="195123"/>
                  </a:cubicBezTo>
                  <a:cubicBezTo>
                    <a:pt x="183810" y="206434"/>
                    <a:pt x="168428" y="211194"/>
                    <a:pt x="153692" y="209402"/>
                  </a:cubicBezTo>
                  <a:cubicBezTo>
                    <a:pt x="144538" y="221089"/>
                    <a:pt x="130296" y="228600"/>
                    <a:pt x="114300" y="228600"/>
                  </a:cubicBezTo>
                  <a:cubicBezTo>
                    <a:pt x="98303" y="228600"/>
                    <a:pt x="84061" y="221089"/>
                    <a:pt x="74908" y="209400"/>
                  </a:cubicBezTo>
                  <a:cubicBezTo>
                    <a:pt x="60171" y="211194"/>
                    <a:pt x="44789" y="206433"/>
                    <a:pt x="33477" y="195122"/>
                  </a:cubicBezTo>
                  <a:cubicBezTo>
                    <a:pt x="22166" y="183812"/>
                    <a:pt x="17406" y="168430"/>
                    <a:pt x="19198" y="153692"/>
                  </a:cubicBezTo>
                  <a:cubicBezTo>
                    <a:pt x="7511" y="144538"/>
                    <a:pt x="0" y="130296"/>
                    <a:pt x="0" y="114300"/>
                  </a:cubicBezTo>
                  <a:cubicBezTo>
                    <a:pt x="0" y="98303"/>
                    <a:pt x="7511" y="84061"/>
                    <a:pt x="19199" y="74908"/>
                  </a:cubicBezTo>
                  <a:cubicBezTo>
                    <a:pt x="17407" y="60171"/>
                    <a:pt x="22167" y="44789"/>
                    <a:pt x="33478" y="33477"/>
                  </a:cubicBezTo>
                  <a:cubicBezTo>
                    <a:pt x="44789" y="22166"/>
                    <a:pt x="60171" y="17406"/>
                    <a:pt x="74908" y="19198"/>
                  </a:cubicBezTo>
                  <a:cubicBezTo>
                    <a:pt x="84062" y="7511"/>
                    <a:pt x="98304" y="0"/>
                    <a:pt x="114300" y="0"/>
                  </a:cubicBezTo>
                  <a:cubicBezTo>
                    <a:pt x="130297" y="0"/>
                    <a:pt x="144539" y="7511"/>
                    <a:pt x="153693" y="19200"/>
                  </a:cubicBezTo>
                  <a:cubicBezTo>
                    <a:pt x="168430" y="17408"/>
                    <a:pt x="183812" y="22167"/>
                    <a:pt x="195123" y="33478"/>
                  </a:cubicBezTo>
                  <a:cubicBezTo>
                    <a:pt x="206434" y="44790"/>
                    <a:pt x="211194" y="60171"/>
                    <a:pt x="209402" y="74908"/>
                  </a:cubicBezTo>
                  <a:close/>
                  <a:moveTo>
                    <a:pt x="174409" y="88684"/>
                  </a:moveTo>
                  <a:lnTo>
                    <a:pt x="154204" y="68478"/>
                  </a:lnTo>
                  <a:lnTo>
                    <a:pt x="100012" y="122669"/>
                  </a:lnTo>
                  <a:lnTo>
                    <a:pt x="74397" y="97053"/>
                  </a:lnTo>
                  <a:lnTo>
                    <a:pt x="54191" y="117259"/>
                  </a:lnTo>
                  <a:lnTo>
                    <a:pt x="100012" y="163080"/>
                  </a:lnTo>
                  <a:lnTo>
                    <a:pt x="174409" y="88684"/>
                  </a:lnTo>
                  <a:close/>
                </a:path>
              </a:pathLst>
            </a:custGeom>
            <a:solidFill>
              <a:srgbClr val="2E8B5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83005" y="5378768"/>
              <a:ext cx="33861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阅读器交互与导航壳层做过稳定性优化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838200" y="57721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09402" y="74908"/>
                  </a:moveTo>
                  <a:cubicBezTo>
                    <a:pt x="221089" y="84062"/>
                    <a:pt x="228600" y="98304"/>
                    <a:pt x="228600" y="114300"/>
                  </a:cubicBezTo>
                  <a:cubicBezTo>
                    <a:pt x="228600" y="130297"/>
                    <a:pt x="221089" y="144539"/>
                    <a:pt x="209400" y="153693"/>
                  </a:cubicBezTo>
                  <a:cubicBezTo>
                    <a:pt x="211192" y="168430"/>
                    <a:pt x="206433" y="183812"/>
                    <a:pt x="195122" y="195123"/>
                  </a:cubicBezTo>
                  <a:cubicBezTo>
                    <a:pt x="183810" y="206434"/>
                    <a:pt x="168428" y="211194"/>
                    <a:pt x="153692" y="209402"/>
                  </a:cubicBezTo>
                  <a:cubicBezTo>
                    <a:pt x="144538" y="221089"/>
                    <a:pt x="130296" y="228600"/>
                    <a:pt x="114300" y="228600"/>
                  </a:cubicBezTo>
                  <a:cubicBezTo>
                    <a:pt x="98303" y="228600"/>
                    <a:pt x="84061" y="221089"/>
                    <a:pt x="74908" y="209400"/>
                  </a:cubicBezTo>
                  <a:cubicBezTo>
                    <a:pt x="60171" y="211194"/>
                    <a:pt x="44789" y="206433"/>
                    <a:pt x="33477" y="195122"/>
                  </a:cubicBezTo>
                  <a:cubicBezTo>
                    <a:pt x="22166" y="183812"/>
                    <a:pt x="17406" y="168430"/>
                    <a:pt x="19198" y="153692"/>
                  </a:cubicBezTo>
                  <a:cubicBezTo>
                    <a:pt x="7511" y="144538"/>
                    <a:pt x="0" y="130296"/>
                    <a:pt x="0" y="114300"/>
                  </a:cubicBezTo>
                  <a:cubicBezTo>
                    <a:pt x="0" y="98303"/>
                    <a:pt x="7511" y="84061"/>
                    <a:pt x="19199" y="74908"/>
                  </a:cubicBezTo>
                  <a:cubicBezTo>
                    <a:pt x="17407" y="60171"/>
                    <a:pt x="22167" y="44789"/>
                    <a:pt x="33478" y="33477"/>
                  </a:cubicBezTo>
                  <a:cubicBezTo>
                    <a:pt x="44789" y="22166"/>
                    <a:pt x="60171" y="17406"/>
                    <a:pt x="74908" y="19198"/>
                  </a:cubicBezTo>
                  <a:cubicBezTo>
                    <a:pt x="84062" y="7511"/>
                    <a:pt x="98304" y="0"/>
                    <a:pt x="114300" y="0"/>
                  </a:cubicBezTo>
                  <a:cubicBezTo>
                    <a:pt x="130297" y="0"/>
                    <a:pt x="144539" y="7511"/>
                    <a:pt x="153693" y="19200"/>
                  </a:cubicBezTo>
                  <a:cubicBezTo>
                    <a:pt x="168430" y="17408"/>
                    <a:pt x="183812" y="22167"/>
                    <a:pt x="195123" y="33478"/>
                  </a:cubicBezTo>
                  <a:cubicBezTo>
                    <a:pt x="206434" y="44790"/>
                    <a:pt x="211194" y="60171"/>
                    <a:pt x="209402" y="74908"/>
                  </a:cubicBezTo>
                  <a:close/>
                  <a:moveTo>
                    <a:pt x="174409" y="88684"/>
                  </a:moveTo>
                  <a:lnTo>
                    <a:pt x="154204" y="68478"/>
                  </a:lnTo>
                  <a:lnTo>
                    <a:pt x="100012" y="122669"/>
                  </a:lnTo>
                  <a:lnTo>
                    <a:pt x="74397" y="97053"/>
                  </a:lnTo>
                  <a:lnTo>
                    <a:pt x="54191" y="117259"/>
                  </a:lnTo>
                  <a:lnTo>
                    <a:pt x="100012" y="163080"/>
                  </a:lnTo>
                  <a:lnTo>
                    <a:pt x="174409" y="88684"/>
                  </a:lnTo>
                  <a:close/>
                </a:path>
              </a:pathLst>
            </a:custGeom>
            <a:solidFill>
              <a:srgbClr val="2E8B5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83005" y="5797868"/>
              <a:ext cx="35833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项目已具备向下阶段继续投入的基础条件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905500" y="3810000"/>
              <a:ext cx="5772150" cy="2400300"/>
            </a:xfrm>
            <a:custGeom>
              <a:avLst/>
              <a:gdLst/>
              <a:ahLst/>
              <a:cxnLst/>
              <a:rect l="l" t="t" r="r" b="b"/>
              <a:pathLst>
                <a:path w="5772150" h="2400300">
                  <a:moveTo>
                    <a:pt x="266700" y="0"/>
                  </a:moveTo>
                  <a:lnTo>
                    <a:pt x="5505450" y="0"/>
                  </a:lnTo>
                  <a:cubicBezTo>
                    <a:pt x="5652744" y="0"/>
                    <a:pt x="5772150" y="119406"/>
                    <a:pt x="5772150" y="266700"/>
                  </a:cubicBezTo>
                  <a:lnTo>
                    <a:pt x="5772150" y="2133600"/>
                  </a:lnTo>
                  <a:cubicBezTo>
                    <a:pt x="5772150" y="2280894"/>
                    <a:pt x="5652744" y="2400300"/>
                    <a:pt x="5505450" y="2400300"/>
                  </a:cubicBezTo>
                  <a:lnTo>
                    <a:pt x="266700" y="2400300"/>
                  </a:lnTo>
                  <a:cubicBezTo>
                    <a:pt x="119406" y="2400300"/>
                    <a:pt x="0" y="2280894"/>
                    <a:pt x="0" y="2133600"/>
                  </a:cubicBezTo>
                  <a:lnTo>
                    <a:pt x="0" y="266700"/>
                  </a:ln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6DDE8"/>
              </a:solidFill>
            </a:ln>
            <a:effectLst>
              <a:outerShdw blurRad="190500" dist="57150" dir="5400000" algn="ctr" rotWithShape="0">
                <a:srgbClr val="5B6678">
                  <a:alpha val="12000"/>
                </a:srgbClr>
              </a:outerShdw>
            </a:effectLst>
          </p:spPr>
        </p:sp>
        <p:sp>
          <p:nvSpPr>
            <p:cNvPr id="41" name="TextBox 41"/>
            <p:cNvSpPr txBox="1"/>
            <p:nvPr/>
          </p:nvSpPr>
          <p:spPr>
            <a:xfrm>
              <a:off x="6187440" y="4034790"/>
              <a:ext cx="280606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当前边界与下一步焦点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93155" y="4502468"/>
              <a:ext cx="36818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1. 原 Next.js Web 端不再承接新功能开发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93155" y="4845368"/>
              <a:ext cx="51310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2. Flutter Web/Desktop 尚未在本阶段正式接管全部能力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93155" y="5188268"/>
              <a:ext cx="46874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3. 下一阶段优先把后台管理能力迁移到 Flutter 多端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93155" y="5531168"/>
              <a:ext cx="44508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4. 书架、账户与阅读器跨端能力将继续抽象与收敛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502920" y="6446520"/>
            <a:ext cx="49717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3A3"/>
                </a:solidFill>
                <a:latin typeface="Arial"/>
                <a:ea typeface="Microsoft YaHei"/>
                <a:cs typeface="Arial"/>
              </a:rPr>
              <a:t>Source: docs/第一阶段功能总览.md, docs/Web端停用与Flutter多端迁移计划.md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14350" y="3810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0565" y="372428"/>
            <a:ext cx="984099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2747"/>
                </a:solidFill>
                <a:latin typeface="Arial"/>
                <a:ea typeface="Microsoft YaHei"/>
                <a:cs typeface="Arial"/>
              </a:rPr>
              <a:t>下一阶段将把既有能力升级为统一的多端阅读与管理平台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47977" y="5343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93A3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74345" y="1069658"/>
            <a:ext cx="5875020" cy="4792980"/>
            <a:chOff x="474345" y="1069658"/>
            <a:chExt cx="5875020" cy="4792980"/>
          </a:xfrm>
        </p:grpSpPr>
        <p:sp>
          <p:nvSpPr>
            <p:cNvPr id="6" name="TextBox 6"/>
            <p:cNvSpPr txBox="1"/>
            <p:nvPr/>
          </p:nvSpPr>
          <p:spPr>
            <a:xfrm>
              <a:off x="474345" y="1069658"/>
              <a:ext cx="203640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F2747"/>
                  </a:solidFill>
                  <a:latin typeface="Georgia"/>
                  <a:ea typeface="SimSun"/>
                  <a:cs typeface="Georgia"/>
                </a:rPr>
                <a:t>Roadmap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104900" y="2095500"/>
              <a:ext cx="9525" cy="3295650"/>
            </a:xfrm>
            <a:custGeom>
              <a:avLst/>
              <a:gdLst/>
              <a:ahLst/>
              <a:cxnLst/>
              <a:rect l="l" t="t" r="r" b="b"/>
              <a:pathLst>
                <a:path w="9525" h="3295650">
                  <a:moveTo>
                    <a:pt x="0" y="0"/>
                  </a:moveTo>
                  <a:lnTo>
                    <a:pt x="0" y="3295650"/>
                  </a:lnTo>
                </a:path>
              </a:pathLst>
            </a:custGeom>
            <a:noFill/>
            <a:ln w="57150">
              <a:solidFill>
                <a:srgbClr val="D6DDE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76300" y="2133600"/>
              <a:ext cx="457200" cy="457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77340" y="2110740"/>
              <a:ext cx="221259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阶段 A：基础收敛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3055" y="2445068"/>
              <a:ext cx="34452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稳定 app 壳层、导航容器与主题 token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76300" y="3181350"/>
              <a:ext cx="457200" cy="457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77340" y="3158490"/>
              <a:ext cx="221259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阶段 B：后台先行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83055" y="3492818"/>
              <a:ext cx="45198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优先让后台管理能力在 Flutter Web/Desktop 落地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76300" y="4229100"/>
              <a:ext cx="457200" cy="457200"/>
            </a:xfrm>
            <a:prstGeom prst="ellipse">
              <a:avLst/>
            </a:prstGeom>
            <a:solidFill>
              <a:srgbClr val="2FA3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77340" y="4206240"/>
              <a:ext cx="331672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阶段 C：书架与阅读器跨端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83055" y="4540568"/>
              <a:ext cx="43719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迁移账户、书架和阅读器能力，建立统一前端体验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76300" y="5276850"/>
              <a:ext cx="457200" cy="457200"/>
            </a:xfrm>
            <a:prstGeom prst="ellipse">
              <a:avLst/>
            </a:prstGeom>
            <a:solidFill>
              <a:srgbClr val="2FA3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577340" y="5253990"/>
              <a:ext cx="27646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747"/>
                  </a:solidFill>
                  <a:latin typeface="Arial"/>
                  <a:ea typeface="Microsoft YaHei"/>
                  <a:cs typeface="Arial"/>
                </a:rPr>
                <a:t>阶段 D：平台价值释放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83055" y="5588318"/>
              <a:ext cx="47663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2433"/>
                  </a:solidFill>
                  <a:latin typeface="Arial"/>
                  <a:ea typeface="Microsoft YaHei"/>
                  <a:cs typeface="Arial"/>
                </a:rPr>
                <a:t>面向团队、机构与企业沉淀长期可扩展的阅读基础设施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953250" y="914400"/>
            <a:ext cx="8198549" cy="5334000"/>
            <a:chOff x="6953250" y="914400"/>
            <a:chExt cx="8198549" cy="5334000"/>
          </a:xfrm>
        </p:grpSpPr>
        <p:sp>
          <p:nvSpPr>
            <p:cNvPr id="21" name="Freeform 21"/>
            <p:cNvSpPr/>
            <p:nvPr/>
          </p:nvSpPr>
          <p:spPr>
            <a:xfrm>
              <a:off x="6953250" y="914400"/>
              <a:ext cx="4724400" cy="5334000"/>
            </a:xfrm>
            <a:custGeom>
              <a:avLst/>
              <a:gdLst/>
              <a:ahLst/>
              <a:cxnLst/>
              <a:rect l="l" t="t" r="r" b="b"/>
              <a:pathLst>
                <a:path w="4724400" h="5334000">
                  <a:moveTo>
                    <a:pt x="323850" y="0"/>
                  </a:moveTo>
                  <a:lnTo>
                    <a:pt x="4400550" y="0"/>
                  </a:lnTo>
                  <a:cubicBezTo>
                    <a:pt x="4579407" y="0"/>
                    <a:pt x="4724400" y="144993"/>
                    <a:pt x="4724400" y="323850"/>
                  </a:cubicBezTo>
                  <a:lnTo>
                    <a:pt x="4724400" y="5010150"/>
                  </a:lnTo>
                  <a:cubicBezTo>
                    <a:pt x="4724400" y="5189007"/>
                    <a:pt x="4579407" y="5334000"/>
                    <a:pt x="4400550" y="5334000"/>
                  </a:cubicBezTo>
                  <a:lnTo>
                    <a:pt x="323850" y="5334000"/>
                  </a:lnTo>
                  <a:cubicBezTo>
                    <a:pt x="144993" y="5334000"/>
                    <a:pt x="0" y="5189007"/>
                    <a:pt x="0" y="5010150"/>
                  </a:cubicBezTo>
                  <a:lnTo>
                    <a:pt x="0" y="323850"/>
                  </a:lnTo>
                  <a:cubicBezTo>
                    <a:pt x="0" y="144993"/>
                    <a:pt x="144993" y="0"/>
                    <a:pt x="323850" y="0"/>
                  </a:cubicBezTo>
                  <a:close/>
                </a:path>
              </a:pathLst>
            </a:custGeom>
            <a:gradFill>
              <a:gsLst>
                <a:gs pos="0">
                  <a:srgbClr val="0F2747"/>
                </a:gs>
                <a:gs pos="100000">
                  <a:srgbClr val="1565C0"/>
                </a:gs>
              </a:gsLst>
              <a:lin ang="2700000" scaled="1"/>
            </a:gradFill>
            <a:ln>
              <a:noFill/>
            </a:ln>
            <a:effectLst>
              <a:outerShdw blurRad="190500" dist="57150" dir="5400000" algn="ctr" rotWithShape="0">
                <a:srgbClr val="081526">
                  <a:alpha val="16500"/>
                </a:srgbClr>
              </a:outerShdw>
            </a:effectLst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91600" y="114300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381000" y="0"/>
                  </a:moveTo>
                  <a:lnTo>
                    <a:pt x="1714500" y="0"/>
                  </a:lnTo>
                  <a:cubicBezTo>
                    <a:pt x="1924920" y="0"/>
                    <a:pt x="2095500" y="170580"/>
                    <a:pt x="2095500" y="381000"/>
                  </a:cubicBezTo>
                  <a:lnTo>
                    <a:pt x="2095500" y="1714500"/>
                  </a:lnTo>
                  <a:cubicBezTo>
                    <a:pt x="2095500" y="1924920"/>
                    <a:pt x="1924920" y="2095500"/>
                    <a:pt x="1714500" y="2095500"/>
                  </a:cubicBezTo>
                  <a:lnTo>
                    <a:pt x="381000" y="2095500"/>
                  </a:lnTo>
                  <a:cubicBezTo>
                    <a:pt x="170580" y="2095500"/>
                    <a:pt x="0" y="1924920"/>
                    <a:pt x="0" y="1714500"/>
                  </a:cubicBezTo>
                  <a:lnTo>
                    <a:pt x="0" y="381000"/>
                  </a:ln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</p:spPr>
        </p:pic>
        <p:sp>
          <p:nvSpPr>
            <p:cNvPr id="23" name="TextBox 23"/>
            <p:cNvSpPr txBox="1"/>
            <p:nvPr/>
          </p:nvSpPr>
          <p:spPr>
            <a:xfrm>
              <a:off x="7307580" y="3526155"/>
              <a:ext cx="45780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项目价值不止于“做出一个 App”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15200" y="3933825"/>
              <a:ext cx="48577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CE7F5"/>
                  </a:solidFill>
                  <a:latin typeface="Arial"/>
                  <a:ea typeface="Microsoft YaHei"/>
                  <a:cs typeface="Arial"/>
                </a:rPr>
                <a:t>而在于沉淀一套可持续扩展的数字阅读平台基座。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7334250" y="45148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09402" y="74908"/>
                  </a:moveTo>
                  <a:cubicBezTo>
                    <a:pt x="221089" y="84062"/>
                    <a:pt x="228600" y="98304"/>
                    <a:pt x="228600" y="114300"/>
                  </a:cubicBezTo>
                  <a:cubicBezTo>
                    <a:pt x="228600" y="130297"/>
                    <a:pt x="221089" y="144539"/>
                    <a:pt x="209400" y="153693"/>
                  </a:cubicBezTo>
                  <a:cubicBezTo>
                    <a:pt x="211192" y="168430"/>
                    <a:pt x="206433" y="183812"/>
                    <a:pt x="195122" y="195123"/>
                  </a:cubicBezTo>
                  <a:cubicBezTo>
                    <a:pt x="183810" y="206434"/>
                    <a:pt x="168428" y="211194"/>
                    <a:pt x="153692" y="209402"/>
                  </a:cubicBezTo>
                  <a:cubicBezTo>
                    <a:pt x="144538" y="221089"/>
                    <a:pt x="130296" y="228600"/>
                    <a:pt x="114300" y="228600"/>
                  </a:cubicBezTo>
                  <a:cubicBezTo>
                    <a:pt x="98303" y="228600"/>
                    <a:pt x="84061" y="221089"/>
                    <a:pt x="74908" y="209400"/>
                  </a:cubicBezTo>
                  <a:cubicBezTo>
                    <a:pt x="60171" y="211194"/>
                    <a:pt x="44789" y="206433"/>
                    <a:pt x="33477" y="195122"/>
                  </a:cubicBezTo>
                  <a:cubicBezTo>
                    <a:pt x="22166" y="183812"/>
                    <a:pt x="17406" y="168430"/>
                    <a:pt x="19198" y="153692"/>
                  </a:cubicBezTo>
                  <a:cubicBezTo>
                    <a:pt x="7511" y="144538"/>
                    <a:pt x="0" y="130296"/>
                    <a:pt x="0" y="114300"/>
                  </a:cubicBezTo>
                  <a:cubicBezTo>
                    <a:pt x="0" y="98303"/>
                    <a:pt x="7511" y="84061"/>
                    <a:pt x="19199" y="74908"/>
                  </a:cubicBezTo>
                  <a:cubicBezTo>
                    <a:pt x="17407" y="60171"/>
                    <a:pt x="22167" y="44789"/>
                    <a:pt x="33478" y="33477"/>
                  </a:cubicBezTo>
                  <a:cubicBezTo>
                    <a:pt x="44789" y="22166"/>
                    <a:pt x="60171" y="17406"/>
                    <a:pt x="74908" y="19198"/>
                  </a:cubicBezTo>
                  <a:cubicBezTo>
                    <a:pt x="84062" y="7511"/>
                    <a:pt x="98304" y="0"/>
                    <a:pt x="114300" y="0"/>
                  </a:cubicBezTo>
                  <a:cubicBezTo>
                    <a:pt x="130297" y="0"/>
                    <a:pt x="144539" y="7511"/>
                    <a:pt x="153693" y="19200"/>
                  </a:cubicBezTo>
                  <a:cubicBezTo>
                    <a:pt x="168430" y="17408"/>
                    <a:pt x="183812" y="22167"/>
                    <a:pt x="195123" y="33478"/>
                  </a:cubicBezTo>
                  <a:cubicBezTo>
                    <a:pt x="206434" y="44790"/>
                    <a:pt x="211194" y="60171"/>
                    <a:pt x="209402" y="74908"/>
                  </a:cubicBezTo>
                  <a:close/>
                  <a:moveTo>
                    <a:pt x="174409" y="88684"/>
                  </a:moveTo>
                  <a:lnTo>
                    <a:pt x="154204" y="68478"/>
                  </a:lnTo>
                  <a:lnTo>
                    <a:pt x="100012" y="122669"/>
                  </a:lnTo>
                  <a:lnTo>
                    <a:pt x="74397" y="97053"/>
                  </a:lnTo>
                  <a:lnTo>
                    <a:pt x="54191" y="117259"/>
                  </a:lnTo>
                  <a:lnTo>
                    <a:pt x="100012" y="163080"/>
                  </a:lnTo>
                  <a:lnTo>
                    <a:pt x="174409" y="886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79055" y="4540568"/>
              <a:ext cx="43719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适合作为团队书库、知识分发和阅读工作台的底座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7362825" y="49530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42862" y="164306"/>
                  </a:moveTo>
                  <a:lnTo>
                    <a:pt x="42862" y="207169"/>
                  </a:lnTo>
                  <a:lnTo>
                    <a:pt x="64294" y="228600"/>
                  </a:lnTo>
                  <a:lnTo>
                    <a:pt x="107156" y="228600"/>
                  </a:lnTo>
                  <a:lnTo>
                    <a:pt x="128588" y="207169"/>
                  </a:lnTo>
                  <a:lnTo>
                    <a:pt x="128588" y="164306"/>
                  </a:lnTo>
                  <a:lnTo>
                    <a:pt x="146298" y="146595"/>
                  </a:lnTo>
                  <a:cubicBezTo>
                    <a:pt x="162403" y="130491"/>
                    <a:pt x="171450" y="108605"/>
                    <a:pt x="171450" y="85830"/>
                  </a:cubicBezTo>
                  <a:cubicBezTo>
                    <a:pt x="171450" y="38486"/>
                    <a:pt x="133069" y="0"/>
                    <a:pt x="85725" y="0"/>
                  </a:cubicBezTo>
                  <a:cubicBezTo>
                    <a:pt x="38380" y="0"/>
                    <a:pt x="0" y="38486"/>
                    <a:pt x="0" y="85830"/>
                  </a:cubicBezTo>
                  <a:cubicBezTo>
                    <a:pt x="0" y="108605"/>
                    <a:pt x="9047" y="130491"/>
                    <a:pt x="25152" y="146595"/>
                  </a:cubicBezTo>
                  <a:lnTo>
                    <a:pt x="42862" y="164306"/>
                  </a:lnTo>
                  <a:close/>
                  <a:moveTo>
                    <a:pt x="71438" y="141074"/>
                  </a:moveTo>
                  <a:lnTo>
                    <a:pt x="71438" y="85725"/>
                  </a:lnTo>
                  <a:lnTo>
                    <a:pt x="100012" y="85725"/>
                  </a:lnTo>
                  <a:lnTo>
                    <a:pt x="100012" y="141074"/>
                  </a:lnTo>
                  <a:cubicBezTo>
                    <a:pt x="124661" y="134730"/>
                    <a:pt x="142875" y="112355"/>
                    <a:pt x="142875" y="85725"/>
                  </a:cubicBezTo>
                  <a:cubicBezTo>
                    <a:pt x="142875" y="54162"/>
                    <a:pt x="117288" y="28575"/>
                    <a:pt x="85725" y="28575"/>
                  </a:cubicBezTo>
                  <a:cubicBezTo>
                    <a:pt x="54162" y="28575"/>
                    <a:pt x="28575" y="54162"/>
                    <a:pt x="28575" y="85725"/>
                  </a:cubicBezTo>
                  <a:cubicBezTo>
                    <a:pt x="28575" y="112355"/>
                    <a:pt x="46788" y="134730"/>
                    <a:pt x="71438" y="1410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79055" y="4978718"/>
              <a:ext cx="51606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适合继续投入设计系统、审计统计、跨端适配与工作流能力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7335134" y="5391150"/>
              <a:ext cx="226831" cy="228600"/>
              <a:chOff x="7335134" y="5391150"/>
              <a:chExt cx="226831" cy="2286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35134" y="5438413"/>
                <a:ext cx="226831" cy="52749"/>
              </a:xfrm>
              <a:custGeom>
                <a:avLst/>
                <a:gdLst/>
                <a:ahLst/>
                <a:cxnLst/>
                <a:rect l="l" t="t" r="r" b="b"/>
                <a:pathLst>
                  <a:path w="226831" h="52749">
                    <a:moveTo>
                      <a:pt x="20828" y="0"/>
                    </a:moveTo>
                    <a:cubicBezTo>
                      <a:pt x="9808" y="15194"/>
                      <a:pt x="2437" y="33205"/>
                      <a:pt x="0" y="52749"/>
                    </a:cubicBezTo>
                    <a:lnTo>
                      <a:pt x="226831" y="52749"/>
                    </a:lnTo>
                    <a:cubicBezTo>
                      <a:pt x="224394" y="33205"/>
                      <a:pt x="217023" y="15193"/>
                      <a:pt x="206003" y="0"/>
                    </a:cubicBezTo>
                    <a:cubicBezTo>
                      <a:pt x="205409" y="333"/>
                      <a:pt x="204806" y="666"/>
                      <a:pt x="204196" y="999"/>
                    </a:cubicBezTo>
                    <a:cubicBezTo>
                      <a:pt x="182973" y="12574"/>
                      <a:pt x="152056" y="24174"/>
                      <a:pt x="113415" y="24174"/>
                    </a:cubicBezTo>
                    <a:cubicBezTo>
                      <a:pt x="74775" y="24174"/>
                      <a:pt x="43857" y="12574"/>
                      <a:pt x="22635" y="999"/>
                    </a:cubicBezTo>
                    <a:cubicBezTo>
                      <a:pt x="22025" y="666"/>
                      <a:pt x="21422" y="333"/>
                      <a:pt x="208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76309" y="5391150"/>
                <a:ext cx="144481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44481" h="42862">
                    <a:moveTo>
                      <a:pt x="144481" y="25719"/>
                    </a:moveTo>
                    <a:cubicBezTo>
                      <a:pt x="126696" y="34654"/>
                      <a:pt x="102209" y="42862"/>
                      <a:pt x="72241" y="42862"/>
                    </a:cubicBezTo>
                    <a:cubicBezTo>
                      <a:pt x="42273" y="42862"/>
                      <a:pt x="17786" y="34654"/>
                      <a:pt x="0" y="25719"/>
                    </a:cubicBezTo>
                    <a:cubicBezTo>
                      <a:pt x="19689" y="9642"/>
                      <a:pt x="44839" y="0"/>
                      <a:pt x="72241" y="0"/>
                    </a:cubicBezTo>
                    <a:cubicBezTo>
                      <a:pt x="99643" y="0"/>
                      <a:pt x="124792" y="9642"/>
                      <a:pt x="144481" y="257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335134" y="5519738"/>
                <a:ext cx="226831" cy="52749"/>
              </a:xfrm>
              <a:custGeom>
                <a:avLst/>
                <a:gdLst/>
                <a:ahLst/>
                <a:cxnLst/>
                <a:rect l="l" t="t" r="r" b="b"/>
                <a:pathLst>
                  <a:path w="226831" h="52749">
                    <a:moveTo>
                      <a:pt x="0" y="0"/>
                    </a:moveTo>
                    <a:cubicBezTo>
                      <a:pt x="2437" y="19544"/>
                      <a:pt x="9808" y="37556"/>
                      <a:pt x="20828" y="52749"/>
                    </a:cubicBezTo>
                    <a:cubicBezTo>
                      <a:pt x="21423" y="52417"/>
                      <a:pt x="22025" y="52084"/>
                      <a:pt x="22635" y="51751"/>
                    </a:cubicBezTo>
                    <a:cubicBezTo>
                      <a:pt x="43857" y="40175"/>
                      <a:pt x="74775" y="28575"/>
                      <a:pt x="113416" y="28575"/>
                    </a:cubicBezTo>
                    <a:cubicBezTo>
                      <a:pt x="152056" y="28575"/>
                      <a:pt x="182974" y="40175"/>
                      <a:pt x="204196" y="51751"/>
                    </a:cubicBezTo>
                    <a:cubicBezTo>
                      <a:pt x="204807" y="52084"/>
                      <a:pt x="205409" y="52417"/>
                      <a:pt x="206003" y="52749"/>
                    </a:cubicBezTo>
                    <a:cubicBezTo>
                      <a:pt x="217023" y="37556"/>
                      <a:pt x="224394" y="19544"/>
                      <a:pt x="22683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376309" y="5576888"/>
                <a:ext cx="144481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44481" h="42862">
                    <a:moveTo>
                      <a:pt x="72241" y="42862"/>
                    </a:moveTo>
                    <a:cubicBezTo>
                      <a:pt x="44839" y="42862"/>
                      <a:pt x="19689" y="33220"/>
                      <a:pt x="0" y="17144"/>
                    </a:cubicBezTo>
                    <a:cubicBezTo>
                      <a:pt x="17786" y="8208"/>
                      <a:pt x="42273" y="0"/>
                      <a:pt x="72241" y="0"/>
                    </a:cubicBezTo>
                    <a:cubicBezTo>
                      <a:pt x="102209" y="0"/>
                      <a:pt x="126696" y="8208"/>
                      <a:pt x="144481" y="17144"/>
                    </a:cubicBezTo>
                    <a:cubicBezTo>
                      <a:pt x="124792" y="33220"/>
                      <a:pt x="99643" y="42862"/>
                      <a:pt x="72241" y="428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679055" y="5416868"/>
              <a:ext cx="45691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具备从移动阅读产品演进为机构级平台的路线清晰度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11390" y="5768340"/>
              <a:ext cx="78404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Private Reader / Build for Long-Term Reading Infrastructure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